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llurinishanth705@gmail.com" userId="77be721c608e98f4" providerId="LiveId" clId="{1FD9FB27-4D53-4FF6-8ADF-A9C1FA78457D}"/>
    <pc:docChg chg="undo custSel addSld delSld">
      <pc:chgData name="nallurinishanth705@gmail.com" userId="77be721c608e98f4" providerId="LiveId" clId="{1FD9FB27-4D53-4FF6-8ADF-A9C1FA78457D}" dt="2026-08-28T08:10:04.420" v="2" actId="47"/>
      <pc:docMkLst>
        <pc:docMk/>
      </pc:docMkLst>
      <pc:sldChg chg="add del">
        <pc:chgData name="nallurinishanth705@gmail.com" userId="77be721c608e98f4" providerId="LiveId" clId="{1FD9FB27-4D53-4FF6-8ADF-A9C1FA78457D}" dt="2026-08-28T08:10:00.059" v="1" actId="47"/>
        <pc:sldMkLst>
          <pc:docMk/>
          <pc:sldMk cId="399073852" sldId="265"/>
        </pc:sldMkLst>
      </pc:sldChg>
      <pc:sldChg chg="del">
        <pc:chgData name="nallurinishanth705@gmail.com" userId="77be721c608e98f4" providerId="LiveId" clId="{1FD9FB27-4D53-4FF6-8ADF-A9C1FA78457D}" dt="2026-08-28T08:10:04.420" v="2" actId="47"/>
        <pc:sldMkLst>
          <pc:docMk/>
          <pc:sldMk cId="980566359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F046CAF-7BCC-40B7-89EF-7C4F534CF7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3BF3E9-7D0D-4732-B5D8-75964E058657}"/>
              </a:ext>
            </a:extLst>
          </p:cNvPr>
          <p:cNvSpPr>
            <a:spLocks noGrp="1"/>
          </p:cNvSpPr>
          <p:nvPr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rgbClr val="2374E1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5F2FA4-58E9-45E5-B113-FD366F24B89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5C9F1"/>
                </a:solidFill>
              </a:defRPr>
            </a:pPr>
            <a:r>
              <a:rPr sz="1350" b="1">
                <a:solidFill>
                  <a:srgbClr val="75C9F1"/>
                </a:solidFill>
              </a:rPr>
              <a:t>MACHINE LEARNING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FEFAFA-5943-478D-AAA0-B18539C82E2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Multi-Class Match Result Prediction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438048-EBAA-41CF-921F-072FFC4515FB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647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0">
                <a:solidFill>
                  <a:srgbClr val="D9E7F5"/>
                </a:solidFill>
              </a:defRPr>
            </a:pPr>
            <a:r>
              <a:rPr sz="2250" b="0">
                <a:solidFill>
                  <a:srgbClr val="D9E7F5"/>
                </a:solidFill>
              </a:rPr>
              <a:t>Using Multinomial Logistic Regression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3BEF8-5F74-4AFE-A697-FD52DA5672D3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428750" cy="57150"/>
          </a:xfrm>
          <a:prstGeom prst="rect">
            <a:avLst/>
          </a:prstGeom>
          <a:solidFill>
            <a:srgbClr val="75C9F1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10E313-92B8-4358-876C-2C3B5F38B43B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5238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N. Nishanth  |  2520030313</a:t>
            </a:r>
          </a:p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N.V. Karthikeya  |  2520030307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C637E8-88D8-4EA7-911F-FCA5F444A0DD}"/>
              </a:ext>
            </a:extLst>
          </p:cNvPr>
          <p:cNvSpPr>
            <a:spLocks noGrp="1"/>
          </p:cNvSpPr>
          <p:nvPr/>
        </p:nvSpPr>
        <p:spPr>
          <a:xfrm>
            <a:off x="685800" y="5410200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D9E7F5"/>
                </a:solidFill>
              </a:defRPr>
            </a:pPr>
            <a:r>
              <a:rPr sz="1350" b="0">
                <a:solidFill>
                  <a:srgbClr val="D9E7F5"/>
                </a:solidFill>
              </a:rPr>
              <a:t>Guide: Dr. Shaik Asif</a:t>
            </a:r>
          </a:p>
          <a:p>
            <a:pPr algn="l">
              <a:defRPr sz="1350" b="0">
                <a:solidFill>
                  <a:srgbClr val="D9E7F5"/>
                </a:solidFill>
              </a:defRPr>
            </a:pPr>
            <a:r>
              <a:rPr sz="1350" b="0">
                <a:solidFill>
                  <a:srgbClr val="D9E7F5"/>
                </a:solidFill>
              </a:rPr>
              <a:t>Department of CSE • A.Y. 2026–27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9B48FE-19A0-4306-9620-850A4C535FDD}"/>
              </a:ext>
            </a:extLst>
          </p:cNvPr>
          <p:cNvSpPr>
            <a:spLocks noGrp="1"/>
          </p:cNvSpPr>
          <p:nvPr/>
        </p:nvSpPr>
        <p:spPr>
          <a:xfrm>
            <a:off x="8639175" y="156210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WIN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A65685-3090-466B-80B8-CE8724310E5D}"/>
              </a:ext>
            </a:extLst>
          </p:cNvPr>
          <p:cNvSpPr>
            <a:spLocks noGrp="1"/>
          </p:cNvSpPr>
          <p:nvPr/>
        </p:nvSpPr>
        <p:spPr>
          <a:xfrm>
            <a:off x="8639175" y="3000375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DRAW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565C74-4C43-4275-A17F-B272067E5CC6}"/>
              </a:ext>
            </a:extLst>
          </p:cNvPr>
          <p:cNvSpPr>
            <a:spLocks noGrp="1"/>
          </p:cNvSpPr>
          <p:nvPr/>
        </p:nvSpPr>
        <p:spPr>
          <a:xfrm>
            <a:off x="8639175" y="44386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LOSS</a:t>
            </a:r>
          </a:p>
        </p:txBody>
      </p:sp>
    </p:spTree>
    <p:extLst>
      <p:ext uri="{BB962C8B-B14F-4D97-AF65-F5344CB8AC3E}">
        <p14:creationId xmlns:p14="http://schemas.microsoft.com/office/powerpoint/2010/main" val="401340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48C8381-66C6-4CA1-A189-2E72C08D379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74E1"/>
                </a:solidFill>
              </a:defRPr>
            </a:pPr>
            <a:r>
              <a:rPr sz="1200" b="1">
                <a:solidFill>
                  <a:srgbClr val="2374E1"/>
                </a:solidFill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34597B-CF9A-4B81-A9B9-123B36D5D91A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Football outcomes require more than a yes/no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1A1DD0-45EB-4ACE-9117-25B60C773D42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19050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BCC64F-F071-4723-9919-C200BBACC0F2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374E1"/>
                </a:solidFill>
              </a:defRPr>
            </a:pPr>
            <a:r>
              <a:rPr sz="1800" b="1">
                <a:solidFill>
                  <a:srgbClr val="2374E1"/>
                </a:solidFill>
              </a:rPr>
              <a:t>The task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8DC412-2BDA-46AF-BF7D-DA3F47B9D83A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334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Predict the final result of a football match as one of three classes: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8E9DF5-7B98-48F5-BCA4-6B9830854416}"/>
              </a:ext>
            </a:extLst>
          </p:cNvPr>
          <p:cNvSpPr>
            <a:spLocks noGrp="1"/>
          </p:cNvSpPr>
          <p:nvPr/>
        </p:nvSpPr>
        <p:spPr>
          <a:xfrm>
            <a:off x="6629400" y="1809750"/>
            <a:ext cx="3924300" cy="838200"/>
          </a:xfrm>
          <a:prstGeom prst="roundRect">
            <a:avLst>
              <a:gd name="adj" fmla="val 13636"/>
            </a:avLst>
          </a:prstGeom>
          <a:solidFill>
            <a:srgbClr val="2E9D68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4E528C-0E3F-4700-8BC7-4863E0FFBF6A}"/>
              </a:ext>
            </a:extLst>
          </p:cNvPr>
          <p:cNvSpPr>
            <a:spLocks noGrp="1"/>
          </p:cNvSpPr>
          <p:nvPr/>
        </p:nvSpPr>
        <p:spPr>
          <a:xfrm>
            <a:off x="6819900" y="1981200"/>
            <a:ext cx="3543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HOME WIN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98A40B-72AC-44A3-A4F4-293D73FB31D0}"/>
              </a:ext>
            </a:extLst>
          </p:cNvPr>
          <p:cNvSpPr>
            <a:spLocks noGrp="1"/>
          </p:cNvSpPr>
          <p:nvPr/>
        </p:nvSpPr>
        <p:spPr>
          <a:xfrm>
            <a:off x="6629400" y="2990850"/>
            <a:ext cx="3924300" cy="838200"/>
          </a:xfrm>
          <a:prstGeom prst="roundRect">
            <a:avLst>
              <a:gd name="adj" fmla="val 13636"/>
            </a:avLst>
          </a:prstGeom>
          <a:solidFill>
            <a:srgbClr val="F0A33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0739D8-BCB5-42F3-90A3-1857FCD19394}"/>
              </a:ext>
            </a:extLst>
          </p:cNvPr>
          <p:cNvSpPr>
            <a:spLocks noGrp="1"/>
          </p:cNvSpPr>
          <p:nvPr/>
        </p:nvSpPr>
        <p:spPr>
          <a:xfrm>
            <a:off x="6819900" y="3162300"/>
            <a:ext cx="3543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DRAW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1656B6-DD51-4897-99B2-17FF98E54ADC}"/>
              </a:ext>
            </a:extLst>
          </p:cNvPr>
          <p:cNvSpPr>
            <a:spLocks noGrp="1"/>
          </p:cNvSpPr>
          <p:nvPr/>
        </p:nvSpPr>
        <p:spPr>
          <a:xfrm>
            <a:off x="6629400" y="4171950"/>
            <a:ext cx="3924300" cy="838200"/>
          </a:xfrm>
          <a:prstGeom prst="roundRect">
            <a:avLst>
              <a:gd name="adj" fmla="val 13636"/>
            </a:avLst>
          </a:prstGeom>
          <a:solidFill>
            <a:srgbClr val="D9534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E17DAA-EB86-4BA9-8465-6797EB2E79B8}"/>
              </a:ext>
            </a:extLst>
          </p:cNvPr>
          <p:cNvSpPr>
            <a:spLocks noGrp="1"/>
          </p:cNvSpPr>
          <p:nvPr/>
        </p:nvSpPr>
        <p:spPr>
          <a:xfrm>
            <a:off x="6819900" y="4343400"/>
            <a:ext cx="3543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AWAY WIN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D55C96-6A57-4EB2-AD4A-6E34C9041539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374E1"/>
                </a:solidFill>
              </a:defRPr>
            </a:pPr>
            <a:r>
              <a:rPr sz="1800" b="1">
                <a:solidFill>
                  <a:srgbClr val="2374E1"/>
                </a:solidFill>
              </a:rPr>
              <a:t>Why it matters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71DEC3-CC1C-4339-B4ED-6830BE0863DC}"/>
              </a:ext>
            </a:extLst>
          </p:cNvPr>
          <p:cNvSpPr>
            <a:spLocks noGrp="1"/>
          </p:cNvSpPr>
          <p:nvPr/>
        </p:nvSpPr>
        <p:spPr>
          <a:xfrm>
            <a:off x="685800" y="3952875"/>
            <a:ext cx="95250" cy="95250"/>
          </a:xfrm>
          <a:prstGeom prst="ellipse">
            <a:avLst/>
          </a:prstGeom>
          <a:solidFill>
            <a:srgbClr val="2374E1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EBCA85-CF20-4299-8535-378690B0A783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Supports match previews and sports analysis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3F993E-45E7-4AEA-934A-8A0D5E9D53BB}"/>
              </a:ext>
            </a:extLst>
          </p:cNvPr>
          <p:cNvSpPr>
            <a:spLocks noGrp="1"/>
          </p:cNvSpPr>
          <p:nvPr/>
        </p:nvSpPr>
        <p:spPr>
          <a:xfrm>
            <a:off x="685800" y="4486275"/>
            <a:ext cx="95250" cy="95250"/>
          </a:xfrm>
          <a:prstGeom prst="ellipse">
            <a:avLst/>
          </a:prstGeom>
          <a:solidFill>
            <a:srgbClr val="2374E1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44C8CD-0F50-4311-AD15-D4022A7F60BA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5105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Shows how form and home advantage affect results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32327F1-116D-49EE-8533-424530FE6DCA}"/>
              </a:ext>
            </a:extLst>
          </p:cNvPr>
          <p:cNvSpPr>
            <a:spLocks noGrp="1"/>
          </p:cNvSpPr>
          <p:nvPr/>
        </p:nvSpPr>
        <p:spPr>
          <a:xfrm>
            <a:off x="685800" y="5019675"/>
            <a:ext cx="95250" cy="95250"/>
          </a:xfrm>
          <a:prstGeom prst="ellipse">
            <a:avLst/>
          </a:prstGeom>
          <a:solidFill>
            <a:srgbClr val="2374E1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91D50C-CB15-47F7-B4B7-BB8484122A7C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Provides probabilities, not only a final label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70A6A6-61F3-42F9-B16C-3649BF5A4587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MULTI-CLASS MATCH RESULT PREDICTION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664E10-62F4-432D-999E-2943ED6C8D3A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843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0C0C80F-2BB5-40A7-A785-0FC93537EFE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74E1"/>
                </a:solidFill>
              </a:defRPr>
            </a:pPr>
            <a:r>
              <a:rPr sz="1200" b="1">
                <a:solidFill>
                  <a:srgbClr val="2374E1"/>
                </a:solidFill>
              </a:rPr>
              <a:t>PROJECT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ECC6DA-2E63-457F-B139-99542C6B6BB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The project turns historical matches into interpretable predictions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F272DE-A86E-412D-970E-A26D10554CD0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19050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2D4AFF-00BC-4E66-AB55-48504EE1880E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374E1"/>
                </a:solidFill>
              </a:defRPr>
            </a:pPr>
            <a:r>
              <a:rPr sz="2250" b="1">
                <a:solidFill>
                  <a:srgbClr val="2374E1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B4E755-F4A0-418B-9651-7594362011B5}"/>
              </a:ext>
            </a:extLst>
          </p:cNvPr>
          <p:cNvSpPr>
            <a:spLocks noGrp="1"/>
          </p:cNvSpPr>
          <p:nvPr/>
        </p:nvSpPr>
        <p:spPr>
          <a:xfrm>
            <a:off x="1543050" y="16954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Prepare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380CA1-7A9D-45D2-AFAD-0B224769658E}"/>
              </a:ext>
            </a:extLst>
          </p:cNvPr>
          <p:cNvSpPr>
            <a:spLocks noGrp="1"/>
          </p:cNvSpPr>
          <p:nvPr/>
        </p:nvSpPr>
        <p:spPr>
          <a:xfrm>
            <a:off x="4000500" y="1695450"/>
            <a:ext cx="704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Clean results and create useful team-performance features.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7A391C-0E4E-4293-979C-679C7BEBD1BB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10363200" cy="9525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058DE4-F323-47D1-8755-D01AD8478F4C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374E1"/>
                </a:solidFill>
              </a:defRPr>
            </a:pPr>
            <a:r>
              <a:rPr sz="2250" b="1">
                <a:solidFill>
                  <a:srgbClr val="2374E1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66536E-C2CD-43AE-800A-6A1CD5611D2D}"/>
              </a:ext>
            </a:extLst>
          </p:cNvPr>
          <p:cNvSpPr>
            <a:spLocks noGrp="1"/>
          </p:cNvSpPr>
          <p:nvPr/>
        </p:nvSpPr>
        <p:spPr>
          <a:xfrm>
            <a:off x="1543050" y="27241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Train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1B69A8-CABC-43DB-8D48-16225D7ED99D}"/>
              </a:ext>
            </a:extLst>
          </p:cNvPr>
          <p:cNvSpPr>
            <a:spLocks noGrp="1"/>
          </p:cNvSpPr>
          <p:nvPr/>
        </p:nvSpPr>
        <p:spPr>
          <a:xfrm>
            <a:off x="4000500" y="2724150"/>
            <a:ext cx="704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Fit Multinomial Logistic Regression on three outcome classes.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8A0D4F-7171-4DFE-825F-BA7C1A95DCBB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10363200" cy="9525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654842-F6DB-480C-B998-58A0F039A1F0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374E1"/>
                </a:solidFill>
              </a:defRPr>
            </a:pPr>
            <a:r>
              <a:rPr sz="2250" b="1">
                <a:solidFill>
                  <a:srgbClr val="2374E1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A7FC47-AE02-440E-803C-2E1C146C8FC6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Evaluate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16F4C2-9BEF-42F6-BE95-62A4E229554B}"/>
              </a:ext>
            </a:extLst>
          </p:cNvPr>
          <p:cNvSpPr>
            <a:spLocks noGrp="1"/>
          </p:cNvSpPr>
          <p:nvPr/>
        </p:nvSpPr>
        <p:spPr>
          <a:xfrm>
            <a:off x="4000500" y="3752850"/>
            <a:ext cx="704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Measure accuracy, precision, recall, F1-score and confusion matrix.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137797-835E-44F7-A5F6-01F234916398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10363200" cy="9525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77EF26-31BA-4230-B6FC-22594A83CE83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374E1"/>
                </a:solidFill>
              </a:defRPr>
            </a:pPr>
            <a:r>
              <a:rPr sz="2250" b="1">
                <a:solidFill>
                  <a:srgbClr val="2374E1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7F6C41-CD34-4AC8-9A36-53AF600F1EBB}"/>
              </a:ext>
            </a:extLst>
          </p:cNvPr>
          <p:cNvSpPr>
            <a:spLocks noGrp="1"/>
          </p:cNvSpPr>
          <p:nvPr/>
        </p:nvSpPr>
        <p:spPr>
          <a:xfrm>
            <a:off x="1543050" y="47815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Interpret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5C0D1E-788C-4760-9CC8-EC7A37B8EF84}"/>
              </a:ext>
            </a:extLst>
          </p:cNvPr>
          <p:cNvSpPr>
            <a:spLocks noGrp="1"/>
          </p:cNvSpPr>
          <p:nvPr/>
        </p:nvSpPr>
        <p:spPr>
          <a:xfrm>
            <a:off x="4000500" y="4781550"/>
            <a:ext cx="704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Identify which factors most influence win, draw and loss probabilities.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61B57C-502F-436B-AB4B-7D923BCA62A4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363200" cy="9525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8594D2-A3A2-48B2-B4F5-8011F31D534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MULTI-CLASS MATCH RESULT PREDICTION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D3C136-DE41-4A9E-9B89-F65179F6E8F1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9168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9A41B23-FBEA-4D6A-8EB3-E6046A93BCC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74E1"/>
                </a:solidFill>
              </a:defRPr>
            </a:pPr>
            <a:r>
              <a:rPr sz="1200" b="1">
                <a:solidFill>
                  <a:srgbClr val="2374E1"/>
                </a:solidFill>
              </a:rPr>
              <a:t>DATASET IDENTIFICATION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205EA-FBCF-4109-8D72-A023BBC8047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Each row describes one historical football match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D32CA6-5E3B-4591-9CA9-D10E1E0CF170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19050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06D882-11A1-4A19-A2A3-5BBC6E1E92D9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4000500" cy="3619500"/>
          </a:xfrm>
          <a:prstGeom prst="roundRect">
            <a:avLst>
              <a:gd name="adj" fmla="val 3158"/>
            </a:avLst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D8B126-A164-42C2-8F7B-B3142ADA1078}"/>
              </a:ext>
            </a:extLst>
          </p:cNvPr>
          <p:cNvSpPr>
            <a:spLocks noGrp="1"/>
          </p:cNvSpPr>
          <p:nvPr/>
        </p:nvSpPr>
        <p:spPr>
          <a:xfrm>
            <a:off x="990600" y="20383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75C9F1"/>
                </a:solidFill>
              </a:defRPr>
            </a:pPr>
            <a:r>
              <a:rPr sz="1800" b="1">
                <a:solidFill>
                  <a:srgbClr val="75C9F1"/>
                </a:solidFill>
              </a:rPr>
              <a:t>Suggested dataset structure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C21002-FF41-4FEF-87D4-D3D4B37AA1D1}"/>
              </a:ext>
            </a:extLst>
          </p:cNvPr>
          <p:cNvSpPr>
            <a:spLocks noGrp="1"/>
          </p:cNvSpPr>
          <p:nvPr/>
        </p:nvSpPr>
        <p:spPr>
          <a:xfrm>
            <a:off x="990600" y="2628900"/>
            <a:ext cx="323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Unit of analysis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One completed domestic-league match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CF4F4-6828-4CB4-9AC7-B4E678D3B5DE}"/>
              </a:ext>
            </a:extLst>
          </p:cNvPr>
          <p:cNvSpPr>
            <a:spLocks noGrp="1"/>
          </p:cNvSpPr>
          <p:nvPr/>
        </p:nvSpPr>
        <p:spPr>
          <a:xfrm>
            <a:off x="990600" y="3562350"/>
            <a:ext cx="323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Target variable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Result ∈ {Home Win, Draw, Away Win}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627DE-087F-4F21-AE02-DA3336CEFD9F}"/>
              </a:ext>
            </a:extLst>
          </p:cNvPr>
          <p:cNvSpPr>
            <a:spLocks noGrp="1"/>
          </p:cNvSpPr>
          <p:nvPr/>
        </p:nvSpPr>
        <p:spPr>
          <a:xfrm>
            <a:off x="990600" y="4495800"/>
            <a:ext cx="3238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Data source</a:t>
            </a:r>
          </a:p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Global football domestic-league results metadata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56C3ED-6726-417D-B777-055B22A7683D}"/>
              </a:ext>
            </a:extLst>
          </p:cNvPr>
          <p:cNvSpPr>
            <a:spLocks noGrp="1"/>
          </p:cNvSpPr>
          <p:nvPr/>
        </p:nvSpPr>
        <p:spPr>
          <a:xfrm>
            <a:off x="5219700" y="1695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374E1"/>
                </a:solidFill>
              </a:defRPr>
            </a:pPr>
            <a:r>
              <a:rPr sz="1575" b="1">
                <a:solidFill>
                  <a:srgbClr val="2374E1"/>
                </a:solidFill>
              </a:rPr>
              <a:t>Match context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743F43-EB49-4F0C-8D4B-931C2E3229BE}"/>
              </a:ext>
            </a:extLst>
          </p:cNvPr>
          <p:cNvSpPr>
            <a:spLocks noGrp="1"/>
          </p:cNvSpPr>
          <p:nvPr/>
        </p:nvSpPr>
        <p:spPr>
          <a:xfrm>
            <a:off x="7429500" y="169545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date, league, home team, away team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36D1BA-F65D-4982-AF0F-37FA6E5EB3C8}"/>
              </a:ext>
            </a:extLst>
          </p:cNvPr>
          <p:cNvSpPr>
            <a:spLocks noGrp="1"/>
          </p:cNvSpPr>
          <p:nvPr/>
        </p:nvSpPr>
        <p:spPr>
          <a:xfrm>
            <a:off x="5219700" y="2247900"/>
            <a:ext cx="5829300" cy="9525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417694-0EA4-4B4B-B5F3-8344B484947E}"/>
              </a:ext>
            </a:extLst>
          </p:cNvPr>
          <p:cNvSpPr>
            <a:spLocks noGrp="1"/>
          </p:cNvSpPr>
          <p:nvPr/>
        </p:nvSpPr>
        <p:spPr>
          <a:xfrm>
            <a:off x="5219700" y="2476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374E1"/>
                </a:solidFill>
              </a:defRPr>
            </a:pPr>
            <a:r>
              <a:rPr sz="1575" b="1">
                <a:solidFill>
                  <a:srgbClr val="2374E1"/>
                </a:solidFill>
              </a:rPr>
              <a:t>Recent form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57D3C1-9D52-480B-89CE-77FB5B3F2524}"/>
              </a:ext>
            </a:extLst>
          </p:cNvPr>
          <p:cNvSpPr>
            <a:spLocks noGrp="1"/>
          </p:cNvSpPr>
          <p:nvPr/>
        </p:nvSpPr>
        <p:spPr>
          <a:xfrm>
            <a:off x="7429500" y="247650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points or results from previous matches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5B743-7524-4E55-A9E3-9BC01404530C}"/>
              </a:ext>
            </a:extLst>
          </p:cNvPr>
          <p:cNvSpPr>
            <a:spLocks noGrp="1"/>
          </p:cNvSpPr>
          <p:nvPr/>
        </p:nvSpPr>
        <p:spPr>
          <a:xfrm>
            <a:off x="5219700" y="3028950"/>
            <a:ext cx="5829300" cy="9525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3249D8-C837-4BB8-9615-B873FC8B57DC}"/>
              </a:ext>
            </a:extLst>
          </p:cNvPr>
          <p:cNvSpPr>
            <a:spLocks noGrp="1"/>
          </p:cNvSpPr>
          <p:nvPr/>
        </p:nvSpPr>
        <p:spPr>
          <a:xfrm>
            <a:off x="5219700" y="32575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374E1"/>
                </a:solidFill>
              </a:defRPr>
            </a:pPr>
            <a:r>
              <a:rPr sz="1575" b="1">
                <a:solidFill>
                  <a:srgbClr val="2374E1"/>
                </a:solidFill>
              </a:rPr>
              <a:t>Goal strength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78FF45-3155-45F2-ABF2-E34E85175F02}"/>
              </a:ext>
            </a:extLst>
          </p:cNvPr>
          <p:cNvSpPr>
            <a:spLocks noGrp="1"/>
          </p:cNvSpPr>
          <p:nvPr/>
        </p:nvSpPr>
        <p:spPr>
          <a:xfrm>
            <a:off x="7429500" y="325755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average goals scored and conceded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97E8E3-8D7B-4424-BB08-69E3101F4B97}"/>
              </a:ext>
            </a:extLst>
          </p:cNvPr>
          <p:cNvSpPr>
            <a:spLocks noGrp="1"/>
          </p:cNvSpPr>
          <p:nvPr/>
        </p:nvSpPr>
        <p:spPr>
          <a:xfrm>
            <a:off x="5219700" y="3810000"/>
            <a:ext cx="5829300" cy="9525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F97DF5-C731-4B02-A8CE-1CB15B5011E7}"/>
              </a:ext>
            </a:extLst>
          </p:cNvPr>
          <p:cNvSpPr>
            <a:spLocks noGrp="1"/>
          </p:cNvSpPr>
          <p:nvPr/>
        </p:nvSpPr>
        <p:spPr>
          <a:xfrm>
            <a:off x="5219700" y="4038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374E1"/>
                </a:solidFill>
              </a:defRPr>
            </a:pPr>
            <a:r>
              <a:rPr sz="1575" b="1">
                <a:solidFill>
                  <a:srgbClr val="2374E1"/>
                </a:solidFill>
              </a:rPr>
              <a:t>History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135FE3-2BE3-4FE4-8DB7-6B437D29D96F}"/>
              </a:ext>
            </a:extLst>
          </p:cNvPr>
          <p:cNvSpPr>
            <a:spLocks noGrp="1"/>
          </p:cNvSpPr>
          <p:nvPr/>
        </p:nvSpPr>
        <p:spPr>
          <a:xfrm>
            <a:off x="7429500" y="403860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head-to-head performance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4883B0-44E5-48E1-A513-EA89D262113B}"/>
              </a:ext>
            </a:extLst>
          </p:cNvPr>
          <p:cNvSpPr>
            <a:spLocks noGrp="1"/>
          </p:cNvSpPr>
          <p:nvPr/>
        </p:nvSpPr>
        <p:spPr>
          <a:xfrm>
            <a:off x="5219700" y="4591050"/>
            <a:ext cx="5829300" cy="9525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9DD140-0490-416F-B433-44BEEDB74088}"/>
              </a:ext>
            </a:extLst>
          </p:cNvPr>
          <p:cNvSpPr>
            <a:spLocks noGrp="1"/>
          </p:cNvSpPr>
          <p:nvPr/>
        </p:nvSpPr>
        <p:spPr>
          <a:xfrm>
            <a:off x="5219700" y="4819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374E1"/>
                </a:solidFill>
              </a:defRPr>
            </a:pPr>
            <a:r>
              <a:rPr sz="1575" b="1">
                <a:solidFill>
                  <a:srgbClr val="2374E1"/>
                </a:solidFill>
              </a:rPr>
              <a:t>Venue effect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162561-0A73-405E-B922-225943AF5E95}"/>
              </a:ext>
            </a:extLst>
          </p:cNvPr>
          <p:cNvSpPr>
            <a:spLocks noGrp="1"/>
          </p:cNvSpPr>
          <p:nvPr/>
        </p:nvSpPr>
        <p:spPr>
          <a:xfrm>
            <a:off x="7429500" y="481965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home/away advantage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EE8D5E-EFF1-451C-B666-D708482B195C}"/>
              </a:ext>
            </a:extLst>
          </p:cNvPr>
          <p:cNvSpPr>
            <a:spLocks noGrp="1"/>
          </p:cNvSpPr>
          <p:nvPr/>
        </p:nvSpPr>
        <p:spPr>
          <a:xfrm>
            <a:off x="5219700" y="5372100"/>
            <a:ext cx="5829300" cy="9525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EFC056-A203-4D06-90B1-CC3C15DC462C}"/>
              </a:ext>
            </a:extLst>
          </p:cNvPr>
          <p:cNvSpPr>
            <a:spLocks noGrp="1"/>
          </p:cNvSpPr>
          <p:nvPr/>
        </p:nvSpPr>
        <p:spPr>
          <a:xfrm>
            <a:off x="5219700" y="5734050"/>
            <a:ext cx="582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D9534F"/>
                </a:solidFill>
              </a:defRPr>
            </a:pPr>
            <a:r>
              <a:rPr sz="1275" b="1">
                <a:solidFill>
                  <a:srgbClr val="D9534F"/>
                </a:solidFill>
              </a:rPr>
              <a:t>Note: engineered features must use only information available before the match.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A3C932-3806-4A12-838B-FE8EAC29863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MULTI-CLASS MATCH RESULT PREDICTION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9C302A-A7C2-402D-AAAC-6D430946D0DC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888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2104735-850A-441C-86B1-3A022150A3D8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74E1"/>
                </a:solidFill>
              </a:defRPr>
            </a:pPr>
            <a:r>
              <a:rPr sz="1200" b="1">
                <a:solidFill>
                  <a:srgbClr val="2374E1"/>
                </a:solidFill>
              </a:rPr>
              <a:t>EXPLORATORY DATA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0CBB04-9280-4D3C-8D77-001C735BD32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EDA checks class balance, quality and predictive patterns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3473AB-28E9-48CB-A52F-A36208E8B238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19050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33C06B-2B82-436E-B1C8-EE663FBF913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324100" cy="3333750"/>
          </a:xfrm>
          <a:prstGeom prst="roundRect">
            <a:avLst>
              <a:gd name="adj" fmla="val 4918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EA0B7F-13E7-4AA8-9154-E63F1711B6E0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2374E1"/>
                </a:solidFill>
              </a:defRPr>
            </a:pPr>
            <a:r>
              <a:rPr sz="2550" b="1">
                <a:solidFill>
                  <a:srgbClr val="2374E1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999305-960A-4A6C-84B6-F0B73F916644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Data quality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C00383-5E29-4AC6-8A65-A2BCDD445C13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943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Missing values</a:t>
            </a:r>
          </a:p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Duplicate matches</a:t>
            </a:r>
          </a:p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Invalid scores or dates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E6884C-940F-4D39-B857-D53977F031C5}"/>
              </a:ext>
            </a:extLst>
          </p:cNvPr>
          <p:cNvSpPr>
            <a:spLocks noGrp="1"/>
          </p:cNvSpPr>
          <p:nvPr/>
        </p:nvSpPr>
        <p:spPr>
          <a:xfrm>
            <a:off x="3314700" y="1809750"/>
            <a:ext cx="2324100" cy="3333750"/>
          </a:xfrm>
          <a:prstGeom prst="roundRect">
            <a:avLst>
              <a:gd name="adj" fmla="val 4918"/>
            </a:avLst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DA5336-95A0-472B-84B7-961DCFD67FE1}"/>
              </a:ext>
            </a:extLst>
          </p:cNvPr>
          <p:cNvSpPr>
            <a:spLocks noGrp="1"/>
          </p:cNvSpPr>
          <p:nvPr/>
        </p:nvSpPr>
        <p:spPr>
          <a:xfrm>
            <a:off x="3505200" y="20193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2374E1"/>
                </a:solidFill>
              </a:defRPr>
            </a:pPr>
            <a:r>
              <a:rPr sz="2550" b="1">
                <a:solidFill>
                  <a:srgbClr val="2374E1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4AAA2E-A9F8-4A2C-B892-199A82D3A510}"/>
              </a:ext>
            </a:extLst>
          </p:cNvPr>
          <p:cNvSpPr>
            <a:spLocks noGrp="1"/>
          </p:cNvSpPr>
          <p:nvPr/>
        </p:nvSpPr>
        <p:spPr>
          <a:xfrm>
            <a:off x="3505200" y="2571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Outcome balance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4E8843-3B25-4FB1-B1EA-D7C22CD5D790}"/>
              </a:ext>
            </a:extLst>
          </p:cNvPr>
          <p:cNvSpPr>
            <a:spLocks noGrp="1"/>
          </p:cNvSpPr>
          <p:nvPr/>
        </p:nvSpPr>
        <p:spPr>
          <a:xfrm>
            <a:off x="3505200" y="3162300"/>
            <a:ext cx="1943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Home-win share</a:t>
            </a:r>
          </a:p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Draw share</a:t>
            </a:r>
          </a:p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Away-win share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B405EB-8FC6-46F3-B9FF-FD2E4DD921EC}"/>
              </a:ext>
            </a:extLst>
          </p:cNvPr>
          <p:cNvSpPr>
            <a:spLocks noGrp="1"/>
          </p:cNvSpPr>
          <p:nvPr/>
        </p:nvSpPr>
        <p:spPr>
          <a:xfrm>
            <a:off x="5943600" y="1809750"/>
            <a:ext cx="2324100" cy="3333750"/>
          </a:xfrm>
          <a:prstGeom prst="roundRect">
            <a:avLst>
              <a:gd name="adj" fmla="val 4918"/>
            </a:avLst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80CFB3-A92D-4CDF-87DB-C48080F368B5}"/>
              </a:ext>
            </a:extLst>
          </p:cNvPr>
          <p:cNvSpPr>
            <a:spLocks noGrp="1"/>
          </p:cNvSpPr>
          <p:nvPr/>
        </p:nvSpPr>
        <p:spPr>
          <a:xfrm>
            <a:off x="6134100" y="20193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2374E1"/>
                </a:solidFill>
              </a:defRPr>
            </a:pPr>
            <a:r>
              <a:rPr sz="2550" b="1">
                <a:solidFill>
                  <a:srgbClr val="2374E1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F01571-4C96-4958-B3ED-CE4D4F269E33}"/>
              </a:ext>
            </a:extLst>
          </p:cNvPr>
          <p:cNvSpPr>
            <a:spLocks noGrp="1"/>
          </p:cNvSpPr>
          <p:nvPr/>
        </p:nvSpPr>
        <p:spPr>
          <a:xfrm>
            <a:off x="6134100" y="2571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Team patterns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8F1539-86A9-432E-96C2-43A8100804E9}"/>
              </a:ext>
            </a:extLst>
          </p:cNvPr>
          <p:cNvSpPr>
            <a:spLocks noGrp="1"/>
          </p:cNvSpPr>
          <p:nvPr/>
        </p:nvSpPr>
        <p:spPr>
          <a:xfrm>
            <a:off x="6134100" y="3162300"/>
            <a:ext cx="1943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Recent form</a:t>
            </a:r>
          </a:p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Goals for/against</a:t>
            </a:r>
          </a:p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Home advantage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A0D9F7-842E-4426-BAA7-93571DB595CF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324100" cy="3333750"/>
          </a:xfrm>
          <a:prstGeom prst="roundRect">
            <a:avLst>
              <a:gd name="adj" fmla="val 4918"/>
            </a:avLst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CA28C1-A98F-49E8-9F44-AB39F7056273}"/>
              </a:ext>
            </a:extLst>
          </p:cNvPr>
          <p:cNvSpPr>
            <a:spLocks noGrp="1"/>
          </p:cNvSpPr>
          <p:nvPr/>
        </p:nvSpPr>
        <p:spPr>
          <a:xfrm>
            <a:off x="8763000" y="2019300"/>
            <a:ext cx="42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2374E1"/>
                </a:solidFill>
              </a:defRPr>
            </a:pPr>
            <a:r>
              <a:rPr sz="2550" b="1">
                <a:solidFill>
                  <a:srgbClr val="2374E1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935BAD-B942-4B7B-A95A-8775079034E5}"/>
              </a:ext>
            </a:extLst>
          </p:cNvPr>
          <p:cNvSpPr>
            <a:spLocks noGrp="1"/>
          </p:cNvSpPr>
          <p:nvPr/>
        </p:nvSpPr>
        <p:spPr>
          <a:xfrm>
            <a:off x="8763000" y="2571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Feature checks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14101D-9D7D-4270-8AEB-353C22413A56}"/>
              </a:ext>
            </a:extLst>
          </p:cNvPr>
          <p:cNvSpPr>
            <a:spLocks noGrp="1"/>
          </p:cNvSpPr>
          <p:nvPr/>
        </p:nvSpPr>
        <p:spPr>
          <a:xfrm>
            <a:off x="8763000" y="3162300"/>
            <a:ext cx="1943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Distributions</a:t>
            </a:r>
          </a:p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Correlations</a:t>
            </a:r>
          </a:p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Possible leakage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0E27CC-8699-453F-ACDD-0EB0278FA2E8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2374E1"/>
                </a:solidFill>
              </a:defRPr>
            </a:pPr>
            <a:r>
              <a:rPr sz="1575" b="1">
                <a:solidFill>
                  <a:srgbClr val="2374E1"/>
                </a:solidFill>
              </a:rPr>
              <a:t>Expected insight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A28E7F-DA8D-477C-92CE-B8CB2F6EC46C}"/>
              </a:ext>
            </a:extLst>
          </p:cNvPr>
          <p:cNvSpPr>
            <a:spLocks noGrp="1"/>
          </p:cNvSpPr>
          <p:nvPr/>
        </p:nvSpPr>
        <p:spPr>
          <a:xfrm>
            <a:off x="2571750" y="5505450"/>
            <a:ext cx="847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Home advantage may improve home-win probability, but class imbalance can reduce draw recall.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C803E5-DA94-406C-BA87-554F0263BF2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MULTI-CLASS MATCH RESULT PREDICTION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54FF26-5FC5-40A8-9B08-0A1EC150D395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7870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861F19F-A926-428F-9A66-6C6433A0BFE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74E1"/>
                </a:solidFill>
              </a:defRPr>
            </a:pPr>
            <a:r>
              <a:rPr sz="1200" b="1">
                <a:solidFill>
                  <a:srgbClr val="2374E1"/>
                </a:solidFill>
              </a:rPr>
              <a:t>DATA PREPROCESSING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753B82-2740-432C-BB28-8411E91D87C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A leakage-safe pipeline prepares matches for training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95D083-2EBC-4EA6-9532-B355051DEA38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19050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15FC614-27D6-408F-A579-6666349B801B}"/>
              </a:ext>
            </a:extLst>
          </p:cNvPr>
          <p:cNvSpPr>
            <a:spLocks noGrp="1"/>
          </p:cNvSpPr>
          <p:nvPr/>
        </p:nvSpPr>
        <p:spPr>
          <a:xfrm>
            <a:off x="2362200" y="2724150"/>
            <a:ext cx="400050" cy="0"/>
          </a:xfrm>
          <a:prstGeom prst="line">
            <a:avLst/>
          </a:prstGeom>
          <a:noFill/>
          <a:ln w="28575">
            <a:solidFill>
              <a:srgbClr val="2374E1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6B99D8-7B2E-411D-92E3-C7E6DF2C26F9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1676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D2D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10C65-CAD1-49EE-A676-8DB546ABC1F9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Raw match data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3D88D9B-8FDF-4CF9-8ABD-A09C3423523C}"/>
              </a:ext>
            </a:extLst>
          </p:cNvPr>
          <p:cNvSpPr>
            <a:spLocks noGrp="1"/>
          </p:cNvSpPr>
          <p:nvPr/>
        </p:nvSpPr>
        <p:spPr>
          <a:xfrm>
            <a:off x="4457700" y="2724150"/>
            <a:ext cx="400050" cy="0"/>
          </a:xfrm>
          <a:prstGeom prst="line">
            <a:avLst/>
          </a:prstGeom>
          <a:noFill/>
          <a:ln w="28575">
            <a:solidFill>
              <a:srgbClr val="2374E1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EDB4CA-839E-4143-BCF4-059F08A9ACFF}"/>
              </a:ext>
            </a:extLst>
          </p:cNvPr>
          <p:cNvSpPr>
            <a:spLocks noGrp="1"/>
          </p:cNvSpPr>
          <p:nvPr/>
        </p:nvSpPr>
        <p:spPr>
          <a:xfrm>
            <a:off x="2781300" y="2419350"/>
            <a:ext cx="1676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D2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EB5D20-D330-4985-9AE9-70EE94CF953F}"/>
              </a:ext>
            </a:extLst>
          </p:cNvPr>
          <p:cNvSpPr>
            <a:spLocks noGrp="1"/>
          </p:cNvSpPr>
          <p:nvPr/>
        </p:nvSpPr>
        <p:spPr>
          <a:xfrm>
            <a:off x="2876550" y="2495550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Clean + validate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457F8AC-D9DE-4133-BB3D-C58648EAE275}"/>
              </a:ext>
            </a:extLst>
          </p:cNvPr>
          <p:cNvSpPr>
            <a:spLocks noGrp="1"/>
          </p:cNvSpPr>
          <p:nvPr/>
        </p:nvSpPr>
        <p:spPr>
          <a:xfrm>
            <a:off x="6553200" y="2724150"/>
            <a:ext cx="400050" cy="0"/>
          </a:xfrm>
          <a:prstGeom prst="line">
            <a:avLst/>
          </a:prstGeom>
          <a:noFill/>
          <a:ln w="28575">
            <a:solidFill>
              <a:srgbClr val="2374E1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77B087-15EC-48BF-951C-F63D6A75D4E6}"/>
              </a:ext>
            </a:extLst>
          </p:cNvPr>
          <p:cNvSpPr>
            <a:spLocks noGrp="1"/>
          </p:cNvSpPr>
          <p:nvPr/>
        </p:nvSpPr>
        <p:spPr>
          <a:xfrm>
            <a:off x="4876800" y="2419350"/>
            <a:ext cx="1676400" cy="609600"/>
          </a:xfrm>
          <a:prstGeom prst="roundRect">
            <a:avLst>
              <a:gd name="adj" fmla="val 18750"/>
            </a:avLst>
          </a:prstGeom>
          <a:solidFill>
            <a:srgbClr val="DDEEFF"/>
          </a:solidFill>
          <a:ln w="9525">
            <a:solidFill>
              <a:srgbClr val="C9D2D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82B964-7BAF-4C6E-8A80-7745E730F918}"/>
              </a:ext>
            </a:extLst>
          </p:cNvPr>
          <p:cNvSpPr>
            <a:spLocks noGrp="1"/>
          </p:cNvSpPr>
          <p:nvPr/>
        </p:nvSpPr>
        <p:spPr>
          <a:xfrm>
            <a:off x="4972050" y="2495550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Engineer features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9D29822-C326-4224-BE3E-831AF343094F}"/>
              </a:ext>
            </a:extLst>
          </p:cNvPr>
          <p:cNvSpPr>
            <a:spLocks noGrp="1"/>
          </p:cNvSpPr>
          <p:nvPr/>
        </p:nvSpPr>
        <p:spPr>
          <a:xfrm>
            <a:off x="8648700" y="2724150"/>
            <a:ext cx="400050" cy="0"/>
          </a:xfrm>
          <a:prstGeom prst="line">
            <a:avLst/>
          </a:prstGeom>
          <a:noFill/>
          <a:ln w="28575">
            <a:solidFill>
              <a:srgbClr val="2374E1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1F08898-AC07-4A15-91E7-1A10DF6B9B2D}"/>
              </a:ext>
            </a:extLst>
          </p:cNvPr>
          <p:cNvSpPr>
            <a:spLocks noGrp="1"/>
          </p:cNvSpPr>
          <p:nvPr/>
        </p:nvSpPr>
        <p:spPr>
          <a:xfrm>
            <a:off x="6972300" y="2419350"/>
            <a:ext cx="1676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D2D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91E4AE-B2D7-4C03-BC5D-04FF2A1B683C}"/>
              </a:ext>
            </a:extLst>
          </p:cNvPr>
          <p:cNvSpPr>
            <a:spLocks noGrp="1"/>
          </p:cNvSpPr>
          <p:nvPr/>
        </p:nvSpPr>
        <p:spPr>
          <a:xfrm>
            <a:off x="7067550" y="2495550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Encode + scale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E699CA-66D8-4A2C-8430-149564E390DE}"/>
              </a:ext>
            </a:extLst>
          </p:cNvPr>
          <p:cNvSpPr>
            <a:spLocks noGrp="1"/>
          </p:cNvSpPr>
          <p:nvPr/>
        </p:nvSpPr>
        <p:spPr>
          <a:xfrm>
            <a:off x="9067800" y="2419350"/>
            <a:ext cx="1676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D2D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D38982-3EC7-4234-A498-BF021D78BD35}"/>
              </a:ext>
            </a:extLst>
          </p:cNvPr>
          <p:cNvSpPr>
            <a:spLocks noGrp="1"/>
          </p:cNvSpPr>
          <p:nvPr/>
        </p:nvSpPr>
        <p:spPr>
          <a:xfrm>
            <a:off x="9163050" y="2495550"/>
            <a:ext cx="1485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Train/test split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38E10-D6B0-4F72-85A5-CFC983AC617F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374E1"/>
                </a:solidFill>
              </a:defRPr>
            </a:pPr>
            <a:r>
              <a:rPr sz="1800" b="1">
                <a:solidFill>
                  <a:srgbClr val="2374E1"/>
                </a:solidFill>
              </a:rPr>
              <a:t>Key preparation steps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73CE40F-7D00-462F-9B26-1754C629432E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95250" cy="95250"/>
          </a:xfrm>
          <a:prstGeom prst="ellipse">
            <a:avLst/>
          </a:prstGeom>
          <a:solidFill>
            <a:srgbClr val="2374E1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3B9744-E92A-4532-ACDE-A1286F309788}"/>
              </a:ext>
            </a:extLst>
          </p:cNvPr>
          <p:cNvSpPr>
            <a:spLocks noGrp="1"/>
          </p:cNvSpPr>
          <p:nvPr/>
        </p:nvSpPr>
        <p:spPr>
          <a:xfrm>
            <a:off x="914400" y="417195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Convert final scores into three target classes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F2065CF-3C25-41AB-B8B4-CC8DB259B224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95250" cy="95250"/>
          </a:xfrm>
          <a:prstGeom prst="ellipse">
            <a:avLst/>
          </a:prstGeom>
          <a:solidFill>
            <a:srgbClr val="2374E1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2B1C1E-18BF-445A-8714-EFBD54BBB2C7}"/>
              </a:ext>
            </a:extLst>
          </p:cNvPr>
          <p:cNvSpPr>
            <a:spLocks noGrp="1"/>
          </p:cNvSpPr>
          <p:nvPr/>
        </p:nvSpPr>
        <p:spPr>
          <a:xfrm>
            <a:off x="914400" y="4705350"/>
            <a:ext cx="4819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Encode teams and leagues; scale numerical features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A9BEDAC-2E7A-4060-9E10-612C5F71FE99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95250" cy="95250"/>
          </a:xfrm>
          <a:prstGeom prst="ellipse">
            <a:avLst/>
          </a:prstGeom>
          <a:solidFill>
            <a:srgbClr val="2E9D68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F11B5E-2B46-4D43-9E91-FC9119961664}"/>
              </a:ext>
            </a:extLst>
          </p:cNvPr>
          <p:cNvSpPr>
            <a:spLocks noGrp="1"/>
          </p:cNvSpPr>
          <p:nvPr/>
        </p:nvSpPr>
        <p:spPr>
          <a:xfrm>
            <a:off x="6419850" y="417195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Use chronological splitting when predicting future matches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39EF8E4-BEA5-4FDA-AAF2-BBD61C88B572}"/>
              </a:ext>
            </a:extLst>
          </p:cNvPr>
          <p:cNvSpPr>
            <a:spLocks noGrp="1"/>
          </p:cNvSpPr>
          <p:nvPr/>
        </p:nvSpPr>
        <p:spPr>
          <a:xfrm>
            <a:off x="6191250" y="4791075"/>
            <a:ext cx="95250" cy="95250"/>
          </a:xfrm>
          <a:prstGeom prst="ellipse">
            <a:avLst/>
          </a:prstGeom>
          <a:solidFill>
            <a:srgbClr val="2E9D68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EF5010-9BA8-4ACC-8532-903BBE909B54}"/>
              </a:ext>
            </a:extLst>
          </p:cNvPr>
          <p:cNvSpPr>
            <a:spLocks noGrp="1"/>
          </p:cNvSpPr>
          <p:nvPr/>
        </p:nvSpPr>
        <p:spPr>
          <a:xfrm>
            <a:off x="6419850" y="4705350"/>
            <a:ext cx="424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Fit preprocessing only on the training set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48DB88-9123-4CD5-BEE8-ECBF085DAF8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MULTI-CLASS MATCH RESULT PREDICTION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D9CC2F-FD2B-41DC-B9EF-E4B7633C02C8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9945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C307714-0C0F-47C4-A9E5-75EB57B001E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74E1"/>
                </a:solidFill>
              </a:defRPr>
            </a:pPr>
            <a:r>
              <a:rPr sz="1200" b="1">
                <a:solidFill>
                  <a:srgbClr val="2374E1"/>
                </a:solidFill>
              </a:rPr>
              <a:t>MULTINOMIAL LOGISTIC REGRESSION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F0DACC-A1EC-4FED-B4EE-D75E7C1695F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One model estimates three outcome probabilities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47B46D-63D7-4B7B-9C95-36DD43B00935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19050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753457-C6B4-4302-A327-AD59DD5865C6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For each match, the model produces: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31D0FF-412C-4261-BC88-95B1B86D9375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P(Home Win)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B68104-1AF6-484E-94D8-9F05EB766EE1}"/>
              </a:ext>
            </a:extLst>
          </p:cNvPr>
          <p:cNvSpPr>
            <a:spLocks noGrp="1"/>
          </p:cNvSpPr>
          <p:nvPr/>
        </p:nvSpPr>
        <p:spPr>
          <a:xfrm>
            <a:off x="2952750" y="2381250"/>
            <a:ext cx="3143250" cy="2667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62EAE6-8064-49AB-8BD0-C13B3184E320}"/>
              </a:ext>
            </a:extLst>
          </p:cNvPr>
          <p:cNvSpPr>
            <a:spLocks noGrp="1"/>
          </p:cNvSpPr>
          <p:nvPr/>
        </p:nvSpPr>
        <p:spPr>
          <a:xfrm>
            <a:off x="2952750" y="2381250"/>
            <a:ext cx="1634490" cy="266700"/>
          </a:xfrm>
          <a:prstGeom prst="rect">
            <a:avLst/>
          </a:prstGeom>
          <a:solidFill>
            <a:srgbClr val="2E9D68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434214-7F5C-42B2-92AE-16F850C9C94A}"/>
              </a:ext>
            </a:extLst>
          </p:cNvPr>
          <p:cNvSpPr>
            <a:spLocks noGrp="1"/>
          </p:cNvSpPr>
          <p:nvPr/>
        </p:nvSpPr>
        <p:spPr>
          <a:xfrm>
            <a:off x="6286500" y="2343150"/>
            <a:ext cx="78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650" b="1">
                <a:solidFill>
                  <a:srgbClr val="2E9D68"/>
                </a:solidFill>
              </a:defRPr>
            </a:pPr>
            <a:r>
              <a:rPr sz="1650" b="1">
                <a:solidFill>
                  <a:srgbClr val="2E9D68"/>
                </a:solidFill>
              </a:rPr>
              <a:t>0.52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9EE301-1686-44A4-AE96-882042C7C181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P(Draw)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D1D2DA-7EA3-4826-90BC-A39D832CF976}"/>
              </a:ext>
            </a:extLst>
          </p:cNvPr>
          <p:cNvSpPr>
            <a:spLocks noGrp="1"/>
          </p:cNvSpPr>
          <p:nvPr/>
        </p:nvSpPr>
        <p:spPr>
          <a:xfrm>
            <a:off x="2952750" y="3276600"/>
            <a:ext cx="3143250" cy="2667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E30440-9D7F-406E-A07E-27DE4779F405}"/>
              </a:ext>
            </a:extLst>
          </p:cNvPr>
          <p:cNvSpPr>
            <a:spLocks noGrp="1"/>
          </p:cNvSpPr>
          <p:nvPr/>
        </p:nvSpPr>
        <p:spPr>
          <a:xfrm>
            <a:off x="2952750" y="3276600"/>
            <a:ext cx="880110" cy="266700"/>
          </a:xfrm>
          <a:prstGeom prst="rect">
            <a:avLst/>
          </a:prstGeom>
          <a:solidFill>
            <a:srgbClr val="F0A33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A65875-1BD9-4540-8DB6-4354604E1E17}"/>
              </a:ext>
            </a:extLst>
          </p:cNvPr>
          <p:cNvSpPr>
            <a:spLocks noGrp="1"/>
          </p:cNvSpPr>
          <p:nvPr/>
        </p:nvSpPr>
        <p:spPr>
          <a:xfrm>
            <a:off x="6286500" y="3238500"/>
            <a:ext cx="78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650" b="1">
                <a:solidFill>
                  <a:srgbClr val="F0A33A"/>
                </a:solidFill>
              </a:defRPr>
            </a:pPr>
            <a:r>
              <a:rPr sz="1650" b="1">
                <a:solidFill>
                  <a:srgbClr val="F0A33A"/>
                </a:solidFill>
              </a:rPr>
              <a:t>0.28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28EB30-486C-4DF0-B462-33F7CBBFB97D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P(Away Win)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A5FB43-6D02-4F1B-AAE4-04000CF950BB}"/>
              </a:ext>
            </a:extLst>
          </p:cNvPr>
          <p:cNvSpPr>
            <a:spLocks noGrp="1"/>
          </p:cNvSpPr>
          <p:nvPr/>
        </p:nvSpPr>
        <p:spPr>
          <a:xfrm>
            <a:off x="2952750" y="4171950"/>
            <a:ext cx="3143250" cy="26670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87DC6C-6A83-47E3-B50E-385583B07B1D}"/>
              </a:ext>
            </a:extLst>
          </p:cNvPr>
          <p:cNvSpPr>
            <a:spLocks noGrp="1"/>
          </p:cNvSpPr>
          <p:nvPr/>
        </p:nvSpPr>
        <p:spPr>
          <a:xfrm>
            <a:off x="2952750" y="4171950"/>
            <a:ext cx="628650" cy="266700"/>
          </a:xfrm>
          <a:prstGeom prst="rect">
            <a:avLst/>
          </a:prstGeom>
          <a:solidFill>
            <a:srgbClr val="D9534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619927-CC81-4A27-850C-4E8DA0C6E4B9}"/>
              </a:ext>
            </a:extLst>
          </p:cNvPr>
          <p:cNvSpPr>
            <a:spLocks noGrp="1"/>
          </p:cNvSpPr>
          <p:nvPr/>
        </p:nvSpPr>
        <p:spPr>
          <a:xfrm>
            <a:off x="6286500" y="4133850"/>
            <a:ext cx="78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0.20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917D6C-CD59-4548-97D6-A1CF23B4312D}"/>
              </a:ext>
            </a:extLst>
          </p:cNvPr>
          <p:cNvSpPr>
            <a:spLocks noGrp="1"/>
          </p:cNvSpPr>
          <p:nvPr/>
        </p:nvSpPr>
        <p:spPr>
          <a:xfrm>
            <a:off x="7524750" y="1752600"/>
            <a:ext cx="3524250" cy="3067050"/>
          </a:xfrm>
          <a:prstGeom prst="roundRect">
            <a:avLst>
              <a:gd name="adj" fmla="val 3727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04DFF7-3DD0-461B-8EE2-DF62988A34DE}"/>
              </a:ext>
            </a:extLst>
          </p:cNvPr>
          <p:cNvSpPr>
            <a:spLocks noGrp="1"/>
          </p:cNvSpPr>
          <p:nvPr/>
        </p:nvSpPr>
        <p:spPr>
          <a:xfrm>
            <a:off x="7829550" y="2076450"/>
            <a:ext cx="2905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2374E1"/>
                </a:solidFill>
              </a:defRPr>
            </a:pPr>
            <a:r>
              <a:rPr sz="1800" b="1">
                <a:solidFill>
                  <a:srgbClr val="2374E1"/>
                </a:solidFill>
              </a:rPr>
              <a:t>Decision rule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601B47-F08A-4933-A3F4-F1B6BD151BD0}"/>
              </a:ext>
            </a:extLst>
          </p:cNvPr>
          <p:cNvSpPr>
            <a:spLocks noGrp="1"/>
          </p:cNvSpPr>
          <p:nvPr/>
        </p:nvSpPr>
        <p:spPr>
          <a:xfrm>
            <a:off x="7829550" y="259080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101820"/>
                </a:solidFill>
              </a:defRPr>
            </a:pPr>
            <a:r>
              <a:rPr sz="2175" b="1">
                <a:solidFill>
                  <a:srgbClr val="101820"/>
                </a:solidFill>
              </a:rPr>
              <a:t>Choose the class with the highest predicted probability.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E2E6DA-9C18-4D9B-8F17-46E716910EBB}"/>
              </a:ext>
            </a:extLst>
          </p:cNvPr>
          <p:cNvSpPr>
            <a:spLocks noGrp="1"/>
          </p:cNvSpPr>
          <p:nvPr/>
        </p:nvSpPr>
        <p:spPr>
          <a:xfrm>
            <a:off x="7829550" y="37528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E6973"/>
                </a:solidFill>
              </a:defRPr>
            </a:pPr>
            <a:r>
              <a:rPr sz="1500" b="1">
                <a:solidFill>
                  <a:srgbClr val="5E6973"/>
                </a:solidFill>
              </a:rPr>
              <a:t>Predicted result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A6FF41-B1C0-4F63-BE1B-1AB31DC1913D}"/>
              </a:ext>
            </a:extLst>
          </p:cNvPr>
          <p:cNvSpPr>
            <a:spLocks noGrp="1"/>
          </p:cNvSpPr>
          <p:nvPr/>
        </p:nvSpPr>
        <p:spPr>
          <a:xfrm>
            <a:off x="7829550" y="41338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2E9D68"/>
                </a:solidFill>
              </a:defRPr>
            </a:pPr>
            <a:r>
              <a:rPr sz="2400" b="1">
                <a:solidFill>
                  <a:srgbClr val="2E9D68"/>
                </a:solidFill>
              </a:rPr>
              <a:t>HOME WIN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91CF96-DBAF-416A-9C66-CEE35B7169D2}"/>
              </a:ext>
            </a:extLst>
          </p:cNvPr>
          <p:cNvSpPr>
            <a:spLocks noGrp="1"/>
          </p:cNvSpPr>
          <p:nvPr/>
        </p:nvSpPr>
        <p:spPr>
          <a:xfrm>
            <a:off x="7524750" y="5219700"/>
            <a:ext cx="3524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E6973"/>
                </a:solidFill>
              </a:defRPr>
            </a:pPr>
            <a:r>
              <a:rPr sz="1425" b="0">
                <a:solidFill>
                  <a:srgbClr val="5E6973"/>
                </a:solidFill>
              </a:rPr>
              <a:t>Strength: simple, fast and interpretable</a:t>
            </a:r>
          </a:p>
          <a:p>
            <a:pPr algn="l">
              <a:defRPr sz="1425" b="0">
                <a:solidFill>
                  <a:srgbClr val="5E6973"/>
                </a:solidFill>
              </a:defRPr>
            </a:pPr>
            <a:r>
              <a:rPr sz="1425" b="0">
                <a:solidFill>
                  <a:srgbClr val="5E6973"/>
                </a:solidFill>
              </a:rPr>
              <a:t>Limitation: assumes mostly linear class boundaries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CDD3F2-F6A7-48ED-BDF7-C4C60CFCC19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MULTI-CLASS MATCH RESULT PREDICTION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6C3E87-5560-4D5C-BF00-C24E1EA8602E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116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F3BD772-816B-491E-807C-3BFEA1CB751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74E1"/>
                </a:solidFill>
              </a:defRPr>
            </a:pPr>
            <a:r>
              <a:rPr sz="1200" b="1">
                <a:solidFill>
                  <a:srgbClr val="2374E1"/>
                </a:solidFill>
              </a:rPr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FF01C9-82B4-4DE5-964A-BC1AFB8BDDA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Training and prediction follow a clear end-to-end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7DD3B3-2239-45FC-97B6-D03D2B22464D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19050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BE572D4-70C1-4DFB-9B24-884B4DE2166E}"/>
              </a:ext>
            </a:extLst>
          </p:cNvPr>
          <p:cNvSpPr>
            <a:spLocks noGrp="1"/>
          </p:cNvSpPr>
          <p:nvPr/>
        </p:nvSpPr>
        <p:spPr>
          <a:xfrm>
            <a:off x="2286000" y="2895600"/>
            <a:ext cx="419100" cy="0"/>
          </a:xfrm>
          <a:prstGeom prst="line">
            <a:avLst/>
          </a:prstGeom>
          <a:noFill/>
          <a:ln w="28575">
            <a:solidFill>
              <a:srgbClr val="2374E1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12EA6-0EC3-4AB8-A6D5-EE1C4C7CEB10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6002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D2D9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E47E9-A1AD-43C8-960C-50AD16BFAFD2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140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Historical matches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47D0B5C-3898-4EC2-88DA-A34C9BCA32D7}"/>
              </a:ext>
            </a:extLst>
          </p:cNvPr>
          <p:cNvSpPr>
            <a:spLocks noGrp="1"/>
          </p:cNvSpPr>
          <p:nvPr/>
        </p:nvSpPr>
        <p:spPr>
          <a:xfrm>
            <a:off x="4457700" y="2895600"/>
            <a:ext cx="419100" cy="0"/>
          </a:xfrm>
          <a:prstGeom prst="line">
            <a:avLst/>
          </a:prstGeom>
          <a:noFill/>
          <a:ln w="28575">
            <a:solidFill>
              <a:srgbClr val="2374E1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E658AA-49DB-4EF2-B027-7B5D80D8AF07}"/>
              </a:ext>
            </a:extLst>
          </p:cNvPr>
          <p:cNvSpPr>
            <a:spLocks noGrp="1"/>
          </p:cNvSpPr>
          <p:nvPr/>
        </p:nvSpPr>
        <p:spPr>
          <a:xfrm>
            <a:off x="2857500" y="2590800"/>
            <a:ext cx="16002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D2D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B1D115-D929-4A0E-9C42-45F1B11F6E5F}"/>
              </a:ext>
            </a:extLst>
          </p:cNvPr>
          <p:cNvSpPr>
            <a:spLocks noGrp="1"/>
          </p:cNvSpPr>
          <p:nvPr/>
        </p:nvSpPr>
        <p:spPr>
          <a:xfrm>
            <a:off x="2952750" y="2667000"/>
            <a:ext cx="140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Feature pipeline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867AA34-75E5-45DF-9626-1632AA615048}"/>
              </a:ext>
            </a:extLst>
          </p:cNvPr>
          <p:cNvSpPr>
            <a:spLocks noGrp="1"/>
          </p:cNvSpPr>
          <p:nvPr/>
        </p:nvSpPr>
        <p:spPr>
          <a:xfrm>
            <a:off x="6629400" y="2895600"/>
            <a:ext cx="419100" cy="0"/>
          </a:xfrm>
          <a:prstGeom prst="line">
            <a:avLst/>
          </a:prstGeom>
          <a:noFill/>
          <a:ln w="28575">
            <a:solidFill>
              <a:srgbClr val="2374E1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CE32DD-23E6-4B2D-A248-773B58540624}"/>
              </a:ext>
            </a:extLst>
          </p:cNvPr>
          <p:cNvSpPr>
            <a:spLocks noGrp="1"/>
          </p:cNvSpPr>
          <p:nvPr/>
        </p:nvSpPr>
        <p:spPr>
          <a:xfrm>
            <a:off x="5029200" y="2590800"/>
            <a:ext cx="1600200" cy="609600"/>
          </a:xfrm>
          <a:prstGeom prst="roundRect">
            <a:avLst>
              <a:gd name="adj" fmla="val 18750"/>
            </a:avLst>
          </a:prstGeom>
          <a:solidFill>
            <a:srgbClr val="2374E1"/>
          </a:solidFill>
          <a:ln w="9525">
            <a:solidFill>
              <a:srgbClr val="C9D2D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466DF2-0F45-4F52-8AFF-320B911B0FE2}"/>
              </a:ext>
            </a:extLst>
          </p:cNvPr>
          <p:cNvSpPr>
            <a:spLocks noGrp="1"/>
          </p:cNvSpPr>
          <p:nvPr/>
        </p:nvSpPr>
        <p:spPr>
          <a:xfrm>
            <a:off x="5124450" y="2667000"/>
            <a:ext cx="140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Trained model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43DBA5D8-BD58-4D5E-8D22-473D4C99887A}"/>
              </a:ext>
            </a:extLst>
          </p:cNvPr>
          <p:cNvSpPr>
            <a:spLocks noGrp="1"/>
          </p:cNvSpPr>
          <p:nvPr/>
        </p:nvSpPr>
        <p:spPr>
          <a:xfrm>
            <a:off x="8801100" y="2895600"/>
            <a:ext cx="419100" cy="0"/>
          </a:xfrm>
          <a:prstGeom prst="line">
            <a:avLst/>
          </a:prstGeom>
          <a:noFill/>
          <a:ln w="28575">
            <a:solidFill>
              <a:srgbClr val="2374E1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D21DAA-028E-4855-9D26-316B4F5F1FE2}"/>
              </a:ext>
            </a:extLst>
          </p:cNvPr>
          <p:cNvSpPr>
            <a:spLocks noGrp="1"/>
          </p:cNvSpPr>
          <p:nvPr/>
        </p:nvSpPr>
        <p:spPr>
          <a:xfrm>
            <a:off x="7200900" y="2590800"/>
            <a:ext cx="16002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D2D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E2EF5C-F32E-4069-A7D3-70406F8E2CCE}"/>
              </a:ext>
            </a:extLst>
          </p:cNvPr>
          <p:cNvSpPr>
            <a:spLocks noGrp="1"/>
          </p:cNvSpPr>
          <p:nvPr/>
        </p:nvSpPr>
        <p:spPr>
          <a:xfrm>
            <a:off x="7296150" y="2667000"/>
            <a:ext cx="140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New match input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9146F8-0D70-47DE-ABDB-8A0F797DCD46}"/>
              </a:ext>
            </a:extLst>
          </p:cNvPr>
          <p:cNvSpPr>
            <a:spLocks noGrp="1"/>
          </p:cNvSpPr>
          <p:nvPr/>
        </p:nvSpPr>
        <p:spPr>
          <a:xfrm>
            <a:off x="9372600" y="2590800"/>
            <a:ext cx="16002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D2D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0F1FAE-026A-40DE-99C4-A011DD647BEF}"/>
              </a:ext>
            </a:extLst>
          </p:cNvPr>
          <p:cNvSpPr>
            <a:spLocks noGrp="1"/>
          </p:cNvSpPr>
          <p:nvPr/>
        </p:nvSpPr>
        <p:spPr>
          <a:xfrm>
            <a:off x="9467850" y="2667000"/>
            <a:ext cx="140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Prediction 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512B5B-1BCD-4481-91B3-14E05B9CDE5F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3771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374E1"/>
                </a:solidFill>
              </a:defRPr>
            </a:pPr>
            <a:r>
              <a:rPr sz="1350" b="1">
                <a:solidFill>
                  <a:srgbClr val="2374E1"/>
                </a:solidFill>
              </a:rPr>
              <a:t>TRAINING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D6A533-F080-4282-A3A6-F83EB90B56DE}"/>
              </a:ext>
            </a:extLst>
          </p:cNvPr>
          <p:cNvSpPr>
            <a:spLocks noGrp="1"/>
          </p:cNvSpPr>
          <p:nvPr/>
        </p:nvSpPr>
        <p:spPr>
          <a:xfrm>
            <a:off x="7200900" y="1943100"/>
            <a:ext cx="3771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E9D68"/>
                </a:solidFill>
              </a:defRPr>
            </a:pPr>
            <a:r>
              <a:rPr sz="1350" b="1">
                <a:solidFill>
                  <a:srgbClr val="2E9D68"/>
                </a:solidFill>
              </a:rPr>
              <a:t>INFERENCE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02CFE1-F209-4ACD-9F18-2DD08F84136B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5943600" cy="19050"/>
          </a:xfrm>
          <a:prstGeom prst="rect">
            <a:avLst/>
          </a:prstGeom>
          <a:solidFill>
            <a:srgbClr val="2374E1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639E2-16C6-4D2A-8910-1F024D6A9AE3}"/>
              </a:ext>
            </a:extLst>
          </p:cNvPr>
          <p:cNvSpPr>
            <a:spLocks noGrp="1"/>
          </p:cNvSpPr>
          <p:nvPr/>
        </p:nvSpPr>
        <p:spPr>
          <a:xfrm>
            <a:off x="7200900" y="3562350"/>
            <a:ext cx="3771900" cy="19050"/>
          </a:xfrm>
          <a:prstGeom prst="rect">
            <a:avLst/>
          </a:prstGeom>
          <a:solidFill>
            <a:srgbClr val="2E9D68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B30385-8733-4FDA-AEF6-3BD0114AC502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5943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Model artifact stores learned coefficients and preprocessing settings.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FBC40F-6B01-426E-8441-68F2151ED0B5}"/>
              </a:ext>
            </a:extLst>
          </p:cNvPr>
          <p:cNvSpPr>
            <a:spLocks noGrp="1"/>
          </p:cNvSpPr>
          <p:nvPr/>
        </p:nvSpPr>
        <p:spPr>
          <a:xfrm>
            <a:off x="7200900" y="3943350"/>
            <a:ext cx="3771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Output includes predicted class and probabilities for all three outcomes.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E9968D-BA0A-45A7-9F68-5D6EE56C453C}"/>
              </a:ext>
            </a:extLst>
          </p:cNvPr>
          <p:cNvSpPr>
            <a:spLocks noGrp="1"/>
          </p:cNvSpPr>
          <p:nvPr/>
        </p:nvSpPr>
        <p:spPr>
          <a:xfrm>
            <a:off x="685800" y="54102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5E6973"/>
                </a:solidFill>
              </a:defRPr>
            </a:pPr>
            <a:r>
              <a:rPr sz="1425" b="0">
                <a:solidFill>
                  <a:srgbClr val="5E6973"/>
                </a:solidFill>
              </a:rPr>
              <a:t>Implementation: Python • pandas • NumPy • scikit-learn • Matplotlib • Jupyter/Colab/VS Code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9177D6-9AAB-41AE-9897-BC68D470559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MULTI-CLASS MATCH RESULT PREDICTION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163734-5CC7-4514-A0AE-96FBF2B178C4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5342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D24886B-4D4D-43CA-80F2-AB34238C75F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74E1"/>
                </a:solidFill>
              </a:defRPr>
            </a:pPr>
            <a:r>
              <a:rPr sz="1200" b="1">
                <a:solidFill>
                  <a:srgbClr val="2374E1"/>
                </a:solidFill>
              </a:rPr>
              <a:t>MODEL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835B46-9963-4F1E-A78A-A069D1768756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Evaluation must measure every class—not accuracy alone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993FF-CB1C-4F30-9AF6-7E7801D31AB0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19050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2FC719-840A-4033-A289-A6C5E47AEE5A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4857750" cy="1276350"/>
          </a:xfrm>
          <a:prstGeom prst="roundRect">
            <a:avLst>
              <a:gd name="adj" fmla="val 8955"/>
            </a:avLst>
          </a:prstGeom>
          <a:solidFill>
            <a:srgbClr val="E8F3F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8B0A4C-19E3-4F8C-AB8B-AFBA3E6D619B}"/>
              </a:ext>
            </a:extLst>
          </p:cNvPr>
          <p:cNvSpPr>
            <a:spLocks noGrp="1"/>
          </p:cNvSpPr>
          <p:nvPr/>
        </p:nvSpPr>
        <p:spPr>
          <a:xfrm>
            <a:off x="914400" y="1962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374E1"/>
                </a:solidFill>
              </a:defRPr>
            </a:pPr>
            <a:r>
              <a:rPr sz="1875" b="1">
                <a:solidFill>
                  <a:srgbClr val="2374E1"/>
                </a:solidFill>
              </a:rPr>
              <a:t>Accuracy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13986E-98AF-4CC2-85FC-02DCDA3C1529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30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Overall percentage of correct predictions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1D74BD-CD84-44E9-AB89-0D369EF17983}"/>
              </a:ext>
            </a:extLst>
          </p:cNvPr>
          <p:cNvSpPr>
            <a:spLocks noGrp="1"/>
          </p:cNvSpPr>
          <p:nvPr/>
        </p:nvSpPr>
        <p:spPr>
          <a:xfrm>
            <a:off x="6191250" y="1771650"/>
            <a:ext cx="4857750" cy="1276350"/>
          </a:xfrm>
          <a:prstGeom prst="roundRect">
            <a:avLst>
              <a:gd name="adj" fmla="val 8955"/>
            </a:avLst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48AABE-D5DA-4C41-83A0-FCE23991E505}"/>
              </a:ext>
            </a:extLst>
          </p:cNvPr>
          <p:cNvSpPr>
            <a:spLocks noGrp="1"/>
          </p:cNvSpPr>
          <p:nvPr/>
        </p:nvSpPr>
        <p:spPr>
          <a:xfrm>
            <a:off x="6419850" y="1962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374E1"/>
                </a:solidFill>
              </a:defRPr>
            </a:pPr>
            <a:r>
              <a:rPr sz="1875" b="1">
                <a:solidFill>
                  <a:srgbClr val="2374E1"/>
                </a:solidFill>
              </a:rPr>
              <a:t>Precision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66BCC-8FA8-4A42-BE3E-1200496500ED}"/>
              </a:ext>
            </a:extLst>
          </p:cNvPr>
          <p:cNvSpPr>
            <a:spLocks noGrp="1"/>
          </p:cNvSpPr>
          <p:nvPr/>
        </p:nvSpPr>
        <p:spPr>
          <a:xfrm>
            <a:off x="6419850" y="2381250"/>
            <a:ext cx="430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How often each predicted class is correct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5E64A5-9387-4E60-8498-1D5B924031D6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4857750" cy="1276350"/>
          </a:xfrm>
          <a:prstGeom prst="roundRect">
            <a:avLst>
              <a:gd name="adj" fmla="val 8955"/>
            </a:avLst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53F24F-FF02-4B18-9EBF-573ABF2B634C}"/>
              </a:ext>
            </a:extLst>
          </p:cNvPr>
          <p:cNvSpPr>
            <a:spLocks noGrp="1"/>
          </p:cNvSpPr>
          <p:nvPr/>
        </p:nvSpPr>
        <p:spPr>
          <a:xfrm>
            <a:off x="914400" y="3581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374E1"/>
                </a:solidFill>
              </a:defRPr>
            </a:pPr>
            <a:r>
              <a:rPr sz="1875" b="1">
                <a:solidFill>
                  <a:srgbClr val="2374E1"/>
                </a:solidFill>
              </a:rPr>
              <a:t>Recall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9A3742-5B38-45A7-BE34-5D140E39ECDA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430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How many actual outcomes of each class are found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381C82-98F8-4F6F-B57E-0963F6E57F09}"/>
              </a:ext>
            </a:extLst>
          </p:cNvPr>
          <p:cNvSpPr>
            <a:spLocks noGrp="1"/>
          </p:cNvSpPr>
          <p:nvPr/>
        </p:nvSpPr>
        <p:spPr>
          <a:xfrm>
            <a:off x="6191250" y="3390900"/>
            <a:ext cx="4857750" cy="1276350"/>
          </a:xfrm>
          <a:prstGeom prst="roundRect">
            <a:avLst>
              <a:gd name="adj" fmla="val 8955"/>
            </a:avLst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575D05-8F51-432D-93B4-576B3597AC19}"/>
              </a:ext>
            </a:extLst>
          </p:cNvPr>
          <p:cNvSpPr>
            <a:spLocks noGrp="1"/>
          </p:cNvSpPr>
          <p:nvPr/>
        </p:nvSpPr>
        <p:spPr>
          <a:xfrm>
            <a:off x="6419850" y="3581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374E1"/>
                </a:solidFill>
              </a:defRPr>
            </a:pPr>
            <a:r>
              <a:rPr sz="1875" b="1">
                <a:solidFill>
                  <a:srgbClr val="2374E1"/>
                </a:solidFill>
              </a:rPr>
              <a:t>F1-score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07CEC9-AB01-4A9C-A3C1-02D6571DD5EA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4305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Balance between precision and recall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F4D98-B97A-469F-AF29-8E5D0DBD81C9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2374E1"/>
                </a:solidFill>
              </a:defRPr>
            </a:pPr>
            <a:r>
              <a:rPr sz="1725" b="1">
                <a:solidFill>
                  <a:srgbClr val="2374E1"/>
                </a:solidFill>
              </a:rPr>
              <a:t>Confusion matrix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DA3EA5-DE0D-455D-9247-1D52B48CA3EE}"/>
              </a:ext>
            </a:extLst>
          </p:cNvPr>
          <p:cNvSpPr>
            <a:spLocks noGrp="1"/>
          </p:cNvSpPr>
          <p:nvPr/>
        </p:nvSpPr>
        <p:spPr>
          <a:xfrm>
            <a:off x="3067050" y="5124450"/>
            <a:ext cx="723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Reveals whether the model confuses draws with wins or losses—a common multi-class challenge.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7FC40F-89DC-4007-983D-EB7FCDA18C9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MULTI-CLASS MATCH RESULT PREDICTION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4FB8EC-780B-4463-9291-66CA5C13D2A6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6494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1AFD632-8D58-470F-AABD-6053BB614EE9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74E1"/>
                </a:solidFill>
              </a:defRPr>
            </a:pPr>
            <a:r>
              <a:rPr sz="1200" b="1">
                <a:solidFill>
                  <a:srgbClr val="2374E1"/>
                </a:solidFill>
              </a:rPr>
              <a:t>BENEFITS AND DRAWBACKS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A9CCBF-4070-4529-816C-A892B28D660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Interpretability is the main advantage; data quality is the main risk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EDBDC6-0288-4A3F-BFA3-175168709CA2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19050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7AD7EC-AE1D-4613-B359-3BE8CA0A4FB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953000" cy="3790950"/>
          </a:xfrm>
          <a:prstGeom prst="roundRect">
            <a:avLst>
              <a:gd name="adj" fmla="val 3015"/>
            </a:avLst>
          </a:prstGeom>
          <a:solidFill>
            <a:srgbClr val="EAF7F0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3C22D6-1C6F-4662-87C3-675D54CEA1C7}"/>
              </a:ext>
            </a:extLst>
          </p:cNvPr>
          <p:cNvSpPr>
            <a:spLocks noGrp="1"/>
          </p:cNvSpPr>
          <p:nvPr/>
        </p:nvSpPr>
        <p:spPr>
          <a:xfrm>
            <a:off x="990600" y="198120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E9D68"/>
                </a:solidFill>
              </a:defRPr>
            </a:pPr>
            <a:r>
              <a:rPr sz="2025" b="1">
                <a:solidFill>
                  <a:srgbClr val="2E9D68"/>
                </a:solidFill>
              </a:rPr>
              <a:t>Advantages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23C3E0-E5C2-4977-B051-ADC116305783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2E9D68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12679B-2572-4DEA-85B6-84441EF7767A}"/>
              </a:ext>
            </a:extLst>
          </p:cNvPr>
          <p:cNvSpPr>
            <a:spLocks noGrp="1"/>
          </p:cNvSpPr>
          <p:nvPr/>
        </p:nvSpPr>
        <p:spPr>
          <a:xfrm>
            <a:off x="1219200" y="25717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Simple to train and explain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DDDF72-EEBD-415D-B224-8496C5357FCB}"/>
              </a:ext>
            </a:extLst>
          </p:cNvPr>
          <p:cNvSpPr>
            <a:spLocks noGrp="1"/>
          </p:cNvSpPr>
          <p:nvPr/>
        </p:nvSpPr>
        <p:spPr>
          <a:xfrm>
            <a:off x="990600" y="3190875"/>
            <a:ext cx="95250" cy="95250"/>
          </a:xfrm>
          <a:prstGeom prst="ellipse">
            <a:avLst/>
          </a:prstGeom>
          <a:solidFill>
            <a:srgbClr val="2E9D68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5D5FBC-4A15-43E9-8828-8960722DD33B}"/>
              </a:ext>
            </a:extLst>
          </p:cNvPr>
          <p:cNvSpPr>
            <a:spLocks noGrp="1"/>
          </p:cNvSpPr>
          <p:nvPr/>
        </p:nvSpPr>
        <p:spPr>
          <a:xfrm>
            <a:off x="1219200" y="31051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Fast on structured tabular data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570848-3284-43C8-9D7B-B4481B8A2720}"/>
              </a:ext>
            </a:extLst>
          </p:cNvPr>
          <p:cNvSpPr>
            <a:spLocks noGrp="1"/>
          </p:cNvSpPr>
          <p:nvPr/>
        </p:nvSpPr>
        <p:spPr>
          <a:xfrm>
            <a:off x="990600" y="3724275"/>
            <a:ext cx="95250" cy="95250"/>
          </a:xfrm>
          <a:prstGeom prst="ellipse">
            <a:avLst/>
          </a:prstGeom>
          <a:solidFill>
            <a:srgbClr val="2E9D68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7891B8-5C6B-4BFA-844F-623360702458}"/>
              </a:ext>
            </a:extLst>
          </p:cNvPr>
          <p:cNvSpPr>
            <a:spLocks noGrp="1"/>
          </p:cNvSpPr>
          <p:nvPr/>
        </p:nvSpPr>
        <p:spPr>
          <a:xfrm>
            <a:off x="1219200" y="36385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Outputs class probabilities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E1B0A5-F6B2-4BDC-9866-9CB211311BAB}"/>
              </a:ext>
            </a:extLst>
          </p:cNvPr>
          <p:cNvSpPr>
            <a:spLocks noGrp="1"/>
          </p:cNvSpPr>
          <p:nvPr/>
        </p:nvSpPr>
        <p:spPr>
          <a:xfrm>
            <a:off x="990600" y="4257675"/>
            <a:ext cx="95250" cy="95250"/>
          </a:xfrm>
          <a:prstGeom prst="ellipse">
            <a:avLst/>
          </a:prstGeom>
          <a:solidFill>
            <a:srgbClr val="2E9D68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792F8D-12E2-471E-BEB8-81454B041F44}"/>
              </a:ext>
            </a:extLst>
          </p:cNvPr>
          <p:cNvSpPr>
            <a:spLocks noGrp="1"/>
          </p:cNvSpPr>
          <p:nvPr/>
        </p:nvSpPr>
        <p:spPr>
          <a:xfrm>
            <a:off x="1219200" y="41719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Coefficients indicate feature influence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A95E74-D4A2-49FB-8833-A64494B446DE}"/>
              </a:ext>
            </a:extLst>
          </p:cNvPr>
          <p:cNvSpPr>
            <a:spLocks noGrp="1"/>
          </p:cNvSpPr>
          <p:nvPr/>
        </p:nvSpPr>
        <p:spPr>
          <a:xfrm>
            <a:off x="990600" y="4791075"/>
            <a:ext cx="95250" cy="95250"/>
          </a:xfrm>
          <a:prstGeom prst="ellipse">
            <a:avLst/>
          </a:prstGeom>
          <a:solidFill>
            <a:srgbClr val="2E9D68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8FC2B4-3CB1-4DCC-9168-2B92E57611C4}"/>
              </a:ext>
            </a:extLst>
          </p:cNvPr>
          <p:cNvSpPr>
            <a:spLocks noGrp="1"/>
          </p:cNvSpPr>
          <p:nvPr/>
        </p:nvSpPr>
        <p:spPr>
          <a:xfrm>
            <a:off x="1219200" y="4705350"/>
            <a:ext cx="3867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Strong baseline for comparison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295C4B-1E5B-44FF-AF5B-0E5B946A6B73}"/>
              </a:ext>
            </a:extLst>
          </p:cNvPr>
          <p:cNvSpPr>
            <a:spLocks noGrp="1"/>
          </p:cNvSpPr>
          <p:nvPr/>
        </p:nvSpPr>
        <p:spPr>
          <a:xfrm>
            <a:off x="5943600" y="1714500"/>
            <a:ext cx="5105400" cy="3790950"/>
          </a:xfrm>
          <a:prstGeom prst="roundRect">
            <a:avLst>
              <a:gd name="adj" fmla="val 3015"/>
            </a:avLst>
          </a:prstGeom>
          <a:solidFill>
            <a:srgbClr val="FFF1F0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323514-55FF-4F07-A6DD-CBC968181324}"/>
              </a:ext>
            </a:extLst>
          </p:cNvPr>
          <p:cNvSpPr>
            <a:spLocks noGrp="1"/>
          </p:cNvSpPr>
          <p:nvPr/>
        </p:nvSpPr>
        <p:spPr>
          <a:xfrm>
            <a:off x="6248400" y="1981200"/>
            <a:ext cx="434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D9534F"/>
                </a:solidFill>
              </a:defRPr>
            </a:pPr>
            <a:r>
              <a:rPr sz="2025" b="1">
                <a:solidFill>
                  <a:srgbClr val="D9534F"/>
                </a:solidFill>
              </a:rPr>
              <a:t>Drawbacks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A27DEE-045D-4DF7-BAA8-8A62A43D3C97}"/>
              </a:ext>
            </a:extLst>
          </p:cNvPr>
          <p:cNvSpPr>
            <a:spLocks noGrp="1"/>
          </p:cNvSpPr>
          <p:nvPr/>
        </p:nvSpPr>
        <p:spPr>
          <a:xfrm>
            <a:off x="6248400" y="2657475"/>
            <a:ext cx="95250" cy="95250"/>
          </a:xfrm>
          <a:prstGeom prst="ellipse">
            <a:avLst/>
          </a:prstGeom>
          <a:solidFill>
            <a:srgbClr val="D9534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384F8-376E-4D9E-8EE2-9A51FD3C0CE4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Limited non-linear modelling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BB90E8-A5E3-490D-873B-8E7E1A57AFDA}"/>
              </a:ext>
            </a:extLst>
          </p:cNvPr>
          <p:cNvSpPr>
            <a:spLocks noGrp="1"/>
          </p:cNvSpPr>
          <p:nvPr/>
        </p:nvSpPr>
        <p:spPr>
          <a:xfrm>
            <a:off x="6248400" y="3190875"/>
            <a:ext cx="95250" cy="95250"/>
          </a:xfrm>
          <a:prstGeom prst="ellipse">
            <a:avLst/>
          </a:prstGeom>
          <a:solidFill>
            <a:srgbClr val="D9534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86C6F1-A895-474A-8860-1F0C20A2359D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Sensitive to weak or missing features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E81306D-B8B8-494F-90BC-9378F3984289}"/>
              </a:ext>
            </a:extLst>
          </p:cNvPr>
          <p:cNvSpPr>
            <a:spLocks noGrp="1"/>
          </p:cNvSpPr>
          <p:nvPr/>
        </p:nvSpPr>
        <p:spPr>
          <a:xfrm>
            <a:off x="6248400" y="3724275"/>
            <a:ext cx="95250" cy="95250"/>
          </a:xfrm>
          <a:prstGeom prst="ellipse">
            <a:avLst/>
          </a:prstGeom>
          <a:solidFill>
            <a:srgbClr val="D9534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A91F6B-137F-4687-BDB3-16B86FA22B55}"/>
              </a:ext>
            </a:extLst>
          </p:cNvPr>
          <p:cNvSpPr>
            <a:spLocks noGrp="1"/>
          </p:cNvSpPr>
          <p:nvPr/>
        </p:nvSpPr>
        <p:spPr>
          <a:xfrm>
            <a:off x="6477000" y="363855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Draws can be harder to predict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FBD65F-FDB5-45A3-B6A1-970DC963490B}"/>
              </a:ext>
            </a:extLst>
          </p:cNvPr>
          <p:cNvSpPr>
            <a:spLocks noGrp="1"/>
          </p:cNvSpPr>
          <p:nvPr/>
        </p:nvSpPr>
        <p:spPr>
          <a:xfrm>
            <a:off x="6248400" y="4257675"/>
            <a:ext cx="95250" cy="95250"/>
          </a:xfrm>
          <a:prstGeom prst="ellipse">
            <a:avLst/>
          </a:prstGeom>
          <a:solidFill>
            <a:srgbClr val="D9534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BAA1A2-2E20-44ED-BCE7-59EF8236FE62}"/>
              </a:ext>
            </a:extLst>
          </p:cNvPr>
          <p:cNvSpPr>
            <a:spLocks noGrp="1"/>
          </p:cNvSpPr>
          <p:nvPr/>
        </p:nvSpPr>
        <p:spPr>
          <a:xfrm>
            <a:off x="6477000" y="417195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Team form changes over time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1BDD88-130F-40FA-8F32-AEEC1F84C3CE}"/>
              </a:ext>
            </a:extLst>
          </p:cNvPr>
          <p:cNvSpPr>
            <a:spLocks noGrp="1"/>
          </p:cNvSpPr>
          <p:nvPr/>
        </p:nvSpPr>
        <p:spPr>
          <a:xfrm>
            <a:off x="6248400" y="4791075"/>
            <a:ext cx="95250" cy="95250"/>
          </a:xfrm>
          <a:prstGeom prst="ellipse">
            <a:avLst/>
          </a:prstGeom>
          <a:solidFill>
            <a:srgbClr val="D9534F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DBBF42-1793-4D5A-A115-9430D56DA2C6}"/>
              </a:ext>
            </a:extLst>
          </p:cNvPr>
          <p:cNvSpPr>
            <a:spLocks noGrp="1"/>
          </p:cNvSpPr>
          <p:nvPr/>
        </p:nvSpPr>
        <p:spPr>
          <a:xfrm>
            <a:off x="6477000" y="470535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Poor splitting can cause data leakage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EECAA7-4AE8-4307-93BB-138C7B8B1D7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MULTI-CLASS MATCH RESULT PREDICTION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7D09F7-FDCF-458E-AA04-F1BC26671EA2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9073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23E790E-699E-43C5-A933-251C57997BA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74E1"/>
                </a:solidFill>
              </a:defRPr>
            </a:pPr>
            <a:r>
              <a:rPr sz="1200" b="1">
                <a:solidFill>
                  <a:srgbClr val="2374E1"/>
                </a:solidFill>
              </a:rPr>
              <a:t>FUTURE ENHANCEMENTS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AED631-BD04-4D6D-8B2F-AA924E5B4F9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The baseline can grow into a stronger prediction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B12F08-DFEB-430C-9D61-1811447B5882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19050"/>
          </a:xfrm>
          <a:prstGeom prst="rect">
            <a:avLst/>
          </a:prstGeom>
          <a:solidFill>
            <a:srgbClr val="C9D2D9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24219-7C97-43ED-9135-BDE59F34C81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7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374E1"/>
                </a:solidFill>
              </a:defRPr>
            </a:pPr>
            <a:r>
              <a:rPr sz="2250" b="1">
                <a:solidFill>
                  <a:srgbClr val="2374E1"/>
                </a:solidFill>
              </a:rPr>
              <a:t>01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DDD153-6D6A-4AC0-A0AC-0A4C41F17D38}"/>
              </a:ext>
            </a:extLst>
          </p:cNvPr>
          <p:cNvSpPr>
            <a:spLocks noGrp="1"/>
          </p:cNvSpPr>
          <p:nvPr/>
        </p:nvSpPr>
        <p:spPr>
          <a:xfrm>
            <a:off x="1409700" y="1714500"/>
            <a:ext cx="9639300" cy="723900"/>
          </a:xfrm>
          <a:prstGeom prst="roundRect">
            <a:avLst>
              <a:gd name="adj" fmla="val 15789"/>
            </a:avLst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CBA6B5-8944-4C62-AA5A-9EB5E2A38714}"/>
              </a:ext>
            </a:extLst>
          </p:cNvPr>
          <p:cNvSpPr>
            <a:spLocks noGrp="1"/>
          </p:cNvSpPr>
          <p:nvPr/>
        </p:nvSpPr>
        <p:spPr>
          <a:xfrm>
            <a:off x="1638300" y="1809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Add richer features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B7E21E-B408-4371-BCCF-D34EC6CB625D}"/>
              </a:ext>
            </a:extLst>
          </p:cNvPr>
          <p:cNvSpPr>
            <a:spLocks noGrp="1"/>
          </p:cNvSpPr>
          <p:nvPr/>
        </p:nvSpPr>
        <p:spPr>
          <a:xfrm>
            <a:off x="4286250" y="180975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Player availability, injuries, rankings and weather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A8F545-42C8-4CA2-B15D-69238212F841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57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374E1"/>
                </a:solidFill>
              </a:defRPr>
            </a:pPr>
            <a:r>
              <a:rPr sz="2250" b="1">
                <a:solidFill>
                  <a:srgbClr val="2374E1"/>
                </a:solidFill>
              </a:rPr>
              <a:t>02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558399-1A5B-4381-8A1E-41D2A41640A2}"/>
              </a:ext>
            </a:extLst>
          </p:cNvPr>
          <p:cNvSpPr>
            <a:spLocks noGrp="1"/>
          </p:cNvSpPr>
          <p:nvPr/>
        </p:nvSpPr>
        <p:spPr>
          <a:xfrm>
            <a:off x="1409700" y="2705100"/>
            <a:ext cx="9639300" cy="723900"/>
          </a:xfrm>
          <a:prstGeom prst="roundRect">
            <a:avLst>
              <a:gd name="adj" fmla="val 15789"/>
            </a:avLst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3D413-0496-4F28-B480-3BFA6D6E8EBF}"/>
              </a:ext>
            </a:extLst>
          </p:cNvPr>
          <p:cNvSpPr>
            <a:spLocks noGrp="1"/>
          </p:cNvSpPr>
          <p:nvPr/>
        </p:nvSpPr>
        <p:spPr>
          <a:xfrm>
            <a:off x="1638300" y="2800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Compare models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656EBC-0D24-4F92-9600-4C6D8DBA7620}"/>
              </a:ext>
            </a:extLst>
          </p:cNvPr>
          <p:cNvSpPr>
            <a:spLocks noGrp="1"/>
          </p:cNvSpPr>
          <p:nvPr/>
        </p:nvSpPr>
        <p:spPr>
          <a:xfrm>
            <a:off x="4286250" y="280035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Decision trees, random forest, gradient boosting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BEAD0D-7B5E-42B3-8F64-E5CA522A4CB1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57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374E1"/>
                </a:solidFill>
              </a:defRPr>
            </a:pPr>
            <a:r>
              <a:rPr sz="2250" b="1">
                <a:solidFill>
                  <a:srgbClr val="2374E1"/>
                </a:solidFill>
              </a:rPr>
              <a:t>03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E3D2D3F-FD41-420B-A37C-C65F333FF37C}"/>
              </a:ext>
            </a:extLst>
          </p:cNvPr>
          <p:cNvSpPr>
            <a:spLocks noGrp="1"/>
          </p:cNvSpPr>
          <p:nvPr/>
        </p:nvSpPr>
        <p:spPr>
          <a:xfrm>
            <a:off x="1409700" y="3695700"/>
            <a:ext cx="9639300" cy="723900"/>
          </a:xfrm>
          <a:prstGeom prst="roundRect">
            <a:avLst>
              <a:gd name="adj" fmla="val 15789"/>
            </a:avLst>
          </a:prstGeom>
          <a:solidFill>
            <a:srgbClr val="EEF2F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4BFFD-3658-4CD1-BFC9-A8D379FA51E1}"/>
              </a:ext>
            </a:extLst>
          </p:cNvPr>
          <p:cNvSpPr>
            <a:spLocks noGrp="1"/>
          </p:cNvSpPr>
          <p:nvPr/>
        </p:nvSpPr>
        <p:spPr>
          <a:xfrm>
            <a:off x="1638300" y="3790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Tune probabilities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2F1CB-95DB-4176-A0E9-2A07D507F73B}"/>
              </a:ext>
            </a:extLst>
          </p:cNvPr>
          <p:cNvSpPr>
            <a:spLocks noGrp="1"/>
          </p:cNvSpPr>
          <p:nvPr/>
        </p:nvSpPr>
        <p:spPr>
          <a:xfrm>
            <a:off x="4286250" y="379095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Class weights, calibration and threshold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3742E6-979A-41F3-B998-D9D062C4FCC1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57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2374E1"/>
                </a:solidFill>
              </a:defRPr>
            </a:pPr>
            <a:r>
              <a:rPr sz="2250" b="1">
                <a:solidFill>
                  <a:srgbClr val="2374E1"/>
                </a:solidFill>
              </a:rPr>
              <a:t>04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61347F-BB2B-469B-B1D0-4B10D9978BA2}"/>
              </a:ext>
            </a:extLst>
          </p:cNvPr>
          <p:cNvSpPr>
            <a:spLocks noGrp="1"/>
          </p:cNvSpPr>
          <p:nvPr/>
        </p:nvSpPr>
        <p:spPr>
          <a:xfrm>
            <a:off x="1409700" y="4686300"/>
            <a:ext cx="9639300" cy="723900"/>
          </a:xfrm>
          <a:prstGeom prst="roundRect">
            <a:avLst>
              <a:gd name="adj" fmla="val 15789"/>
            </a:avLst>
          </a:prstGeom>
          <a:solidFill>
            <a:srgbClr val="DDEE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2B9292-EDCC-4038-86EC-D66583D23CC2}"/>
              </a:ext>
            </a:extLst>
          </p:cNvPr>
          <p:cNvSpPr>
            <a:spLocks noGrp="1"/>
          </p:cNvSpPr>
          <p:nvPr/>
        </p:nvSpPr>
        <p:spPr>
          <a:xfrm>
            <a:off x="1638300" y="47815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Deploy prototype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383537-F3F2-4389-8160-70B23F3D61AA}"/>
              </a:ext>
            </a:extLst>
          </p:cNvPr>
          <p:cNvSpPr>
            <a:spLocks noGrp="1"/>
          </p:cNvSpPr>
          <p:nvPr/>
        </p:nvSpPr>
        <p:spPr>
          <a:xfrm>
            <a:off x="4286250" y="478155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5E6973"/>
                </a:solidFill>
              </a:defRPr>
            </a:pPr>
            <a:r>
              <a:rPr sz="1575" b="0">
                <a:solidFill>
                  <a:srgbClr val="5E6973"/>
                </a:solidFill>
              </a:rPr>
              <a:t>Web interface or API for match previews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CCE924-C371-4E61-94C5-BB1BBBD2CAE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MULTI-CLASS MATCH RESULT PREDICTION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4DBDAA-EA96-4C5F-82C6-E0EEF991FCBA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E6973"/>
                </a:solidFill>
              </a:defRPr>
            </a:pPr>
            <a:r>
              <a:rPr sz="900" b="1">
                <a:solidFill>
                  <a:srgbClr val="5E69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5055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60ABCF-7509-4268-B208-5CA2EBC959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EAFFFD-FA0A-410B-895A-91595027691C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5C9F1"/>
                </a:solidFill>
              </a:defRPr>
            </a:pPr>
            <a:r>
              <a:rPr sz="1350" b="1">
                <a:solidFill>
                  <a:srgbClr val="75C9F1"/>
                </a:solidFill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7C7929-72C0-4BC0-A837-058AE7AFA14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8858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practical and interpretable baseline for three-way match prediction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0C607-EA9B-418A-BF23-75F162E9911D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8001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0">
                <a:solidFill>
                  <a:srgbClr val="D9E7F5"/>
                </a:solidFill>
              </a:defRPr>
            </a:pPr>
            <a:r>
              <a:rPr sz="2025" b="0">
                <a:solidFill>
                  <a:srgbClr val="D9E7F5"/>
                </a:solidFill>
              </a:rPr>
              <a:t>Historical performance becomes useful only when features are prepared without leakage and every outcome class is evaluated carefully.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A5BB6-44C7-422D-A639-984A55D03437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0287000" cy="19050"/>
          </a:xfrm>
          <a:prstGeom prst="rect">
            <a:avLst/>
          </a:prstGeom>
          <a:solidFill>
            <a:srgbClr val="52616E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EA0D1E-18FC-455B-99C4-4C9B39982F77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942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AFC0CE"/>
                </a:solidFill>
              </a:defRPr>
            </a:pPr>
            <a:r>
              <a:rPr sz="1275" b="0">
                <a:solidFill>
                  <a:srgbClr val="AFC0CE"/>
                </a:solidFill>
              </a:rPr>
              <a:t>Source: Project abstract and introduction supplied in “Adobe Scan Aug 14, 2026 (1)(3).pdf”.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FA6EDE-A973-40D8-9540-5AA35477F831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75C9F1"/>
                </a:solidFill>
              </a:defRPr>
            </a:pPr>
            <a:r>
              <a:rPr sz="2250" b="1">
                <a:solidFill>
                  <a:srgbClr val="75C9F1"/>
                </a:solidFill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7260011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Microsoft Office PowerPoint</Application>
  <DocSecurity>0</DocSecurity>
  <PresentationFormat>Widescreen</PresentationFormat>
  <Paragraphs>183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nallurinishanth705@gmail.com</cp:lastModifiedBy>
  <cp:revision>1</cp:revision>
  <dcterms:created xsi:type="dcterms:W3CDTF">2026-08-28T07:17:50Z</dcterms:created>
  <dcterms:modified xsi:type="dcterms:W3CDTF">2026-08-28T08:10:04Z</dcterms:modified>
</cp:coreProperties>
</file>