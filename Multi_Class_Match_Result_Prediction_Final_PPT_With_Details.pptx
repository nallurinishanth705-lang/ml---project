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8F2124-BA5F-4F6E-9FDA-8559D8D5169A}" v="2" dt="2026-09-25T14:55:46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llurinishanth705@gmail.com" userId="77be721c608e98f4" providerId="LiveId" clId="{1FD9FB27-4D53-4FF6-8ADF-A9C1FA78457D}"/>
    <pc:docChg chg="undo custSel modSld">
      <pc:chgData name="nallurinishanth705@gmail.com" userId="77be721c608e98f4" providerId="LiveId" clId="{1FD9FB27-4D53-4FF6-8ADF-A9C1FA78457D}" dt="2026-09-25T14:57:07.905" v="124" actId="478"/>
      <pc:docMkLst>
        <pc:docMk/>
      </pc:docMkLst>
      <pc:sldChg chg="addSp delSp modSp mod">
        <pc:chgData name="nallurinishanth705@gmail.com" userId="77be721c608e98f4" providerId="LiveId" clId="{1FD9FB27-4D53-4FF6-8ADF-A9C1FA78457D}" dt="2026-09-25T14:57:07.905" v="124" actId="478"/>
        <pc:sldMkLst>
          <pc:docMk/>
          <pc:sldMk cId="0" sldId="256"/>
        </pc:sldMkLst>
        <pc:spChg chg="mod">
          <ac:chgData name="nallurinishanth705@gmail.com" userId="77be721c608e98f4" providerId="LiveId" clId="{1FD9FB27-4D53-4FF6-8ADF-A9C1FA78457D}" dt="2026-09-25T14:56:18.862" v="122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nallurinishanth705@gmail.com" userId="77be721c608e98f4" providerId="LiveId" clId="{1FD9FB27-4D53-4FF6-8ADF-A9C1FA78457D}" dt="2026-09-25T14:55:35.057" v="54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nallurinishanth705@gmail.com" userId="77be721c608e98f4" providerId="LiveId" clId="{1FD9FB27-4D53-4FF6-8ADF-A9C1FA78457D}" dt="2026-09-25T14:57:07.905" v="124" actId="47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allurinishanth705@gmail.com" userId="77be721c608e98f4" providerId="LiveId" clId="{1FD9FB27-4D53-4FF6-8ADF-A9C1FA78457D}" dt="2026-09-25T14:56:28.102" v="123" actId="1076"/>
          <ac:spMkLst>
            <pc:docMk/>
            <pc:sldMk cId="0" sldId="256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Evaluation Scores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0.49780000000000002</c:v>
                </c:pt>
                <c:pt idx="1">
                  <c:v>0.47849999999999998</c:v>
                </c:pt>
                <c:pt idx="2">
                  <c:v>0.49780000000000002</c:v>
                </c:pt>
                <c:pt idx="3">
                  <c:v>0.45800000000000002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9E-4EA2-AC9E-FA77D905B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6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0.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"/>
              </a:spcAft>
            </a:pPr>
            <a:endParaRPr lang="en-US" sz="90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MACHINE
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90514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Sports Analytics
Multi-Class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0058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375F"/>
                </a:solidFill>
                <a:latin typeface="Aptos"/>
              </a:rPr>
              <a:t>Multi-Class Match Result
Prediction Using Multinomial
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2461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232830"/>
                </a:solidFill>
                <a:latin typeface="Aptos"/>
              </a:rPr>
              <a:t>Predicting Home Win, Draw, or Away Win from historical pre-match football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617720"/>
            <a:ext cx="2057400" cy="91440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Dataset</a:t>
            </a:r>
          </a:p>
          <a:p>
            <a:pPr>
              <a:spcBef>
                <a:spcPts val="700"/>
              </a:spcBef>
              <a:defRPr sz="1500">
                <a:solidFill>
                  <a:srgbClr val="232830"/>
                </a:solidFill>
                <a:latin typeface="Aptos"/>
              </a:defRPr>
            </a:pPr>
            <a:r>
              <a:t>20,000 matches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4617720"/>
            <a:ext cx="2057400" cy="91440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Target</a:t>
            </a:r>
          </a:p>
          <a:p>
            <a:pPr>
              <a:spcBef>
                <a:spcPts val="700"/>
              </a:spcBef>
              <a:defRPr sz="1500">
                <a:solidFill>
                  <a:srgbClr val="232830"/>
                </a:solidFill>
                <a:latin typeface="Aptos"/>
              </a:defRPr>
            </a:pPr>
            <a:r>
              <a:t>H / D /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617720"/>
            <a:ext cx="2423160" cy="91440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Model</a:t>
            </a:r>
          </a:p>
          <a:p>
            <a:pPr>
              <a:spcBef>
                <a:spcPts val="700"/>
              </a:spcBef>
              <a:defRPr sz="1300">
                <a:solidFill>
                  <a:srgbClr val="232830"/>
                </a:solidFill>
                <a:latin typeface="Aptos"/>
              </a:defRPr>
            </a:pPr>
            <a:r>
              <a:t>Multinomial 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350102"/>
            <a:ext cx="6446520" cy="536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N. Nishanth  |  </a:t>
            </a:r>
            <a:r>
              <a:rPr lang="fi-FI" sz="1400" b="1" dirty="0">
                <a:solidFill>
                  <a:srgbClr val="FFFFFF"/>
                </a:solidFill>
                <a:latin typeface="Aptos"/>
              </a:rPr>
              <a:t>2520030313</a:t>
            </a:r>
          </a:p>
          <a:p>
            <a:pPr algn="l">
              <a:spcAft>
                <a:spcPts val="100"/>
              </a:spcAft>
            </a:pPr>
            <a:r>
              <a:rPr lang="fi-FI" sz="1400" b="1" dirty="0">
                <a:solidFill>
                  <a:srgbClr val="FFFFFF"/>
                </a:solidFill>
                <a:latin typeface="Aptos"/>
              </a:rPr>
              <a:t>N.V. Karthikeya  |  2520030307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1.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10881360" cy="45262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Abstract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This project predicts football match outcomes as Home Win, Draw, or Away Win using Multinomial Logistic Regression. A project-ready dataset of 20,000 historical matches is used. Pre-match features include recent points, average goals scored and conceded, historical win rates, country, and league. The data is preprocessed using missing-value handling, feature scaling, and categorical encoding, then divided into training and testing sets. The model is evaluated using accuracy, precision, recall, F1-score, and a confusion matrix. The final model achieved 49.78% accuracy on 4,000 test matches.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2. 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394960" cy="45262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Problem Statement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Football matches can end in three outcomes: Home Win, Draw, or Away Win. The goal is to learn patterns from historical pre-match information and classify an unseen match into one of these three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452628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Objectives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• Prepare historical football data</a:t>
            </a:r>
            <a:br/>
            <a:r>
              <a:t>• Create/use pre-match performance features</a:t>
            </a:r>
            <a:br/>
            <a:r>
              <a:t>• Train a Multinomial Logistic Regression model</a:t>
            </a:r>
            <a:br/>
            <a:r>
              <a:t>• Predict three match-result classes</a:t>
            </a:r>
            <a:br/>
            <a:r>
              <a:t>• Evaluate with Accuracy, Precision, Recall and F1</a:t>
            </a:r>
            <a:br/>
            <a:r>
              <a:t>• Analyze errors using a Confusion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3. Dataset &amp;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2743200" cy="114300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Records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20,000 historical 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51560"/>
            <a:ext cx="2743200" cy="114300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Columns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15 project-ready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051560"/>
            <a:ext cx="4983480" cy="114300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Target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Result: H = Home Win, D = Draw, A = Away Win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468880"/>
            <a:ext cx="5349240" cy="265176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Pre-Match Numerical Features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Home/Away Recent Points</a:t>
            </a:r>
            <a:br/>
            <a:r>
              <a:t>Home/Away Avg. Goals Scored</a:t>
            </a:r>
            <a:br/>
            <a:r>
              <a:t>Home/Away Avg. Goals Conceded</a:t>
            </a:r>
            <a:br/>
            <a:r>
              <a:t>Home/Away Historical Win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5303520" cy="265176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Context Features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Date • Country • League • Season</a:t>
            </a:r>
            <a:br/>
            <a:r>
              <a:t>Home Team • Away Team</a:t>
            </a:r>
            <a:br/>
            <a:br/>
            <a:r>
              <a:t>The trained model uses the engineered numerical features plus Country and League.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375F"/>
                </a:solidFill>
                <a:latin typeface="Aptos"/>
              </a:rPr>
              <a:t>Class distribution: Home Win 8,867 • Away Win 5,781 • Draw 5,352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4. Data Preprocessing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74519" cy="288036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1. Load Data</a:t>
            </a:r>
          </a:p>
          <a:p>
            <a:pPr>
              <a:spcBef>
                <a:spcPts val="700"/>
              </a:spcBef>
              <a:defRPr sz="1400">
                <a:solidFill>
                  <a:srgbClr val="232830"/>
                </a:solidFill>
                <a:latin typeface="Aptos"/>
              </a:defRPr>
            </a:pPr>
            <a:r>
              <a:t>Read cleaned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4872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A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28800"/>
            <a:ext cx="1874519" cy="288036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2. Select Features</a:t>
            </a:r>
          </a:p>
          <a:p>
            <a:pPr>
              <a:spcBef>
                <a:spcPts val="700"/>
              </a:spcBef>
              <a:defRPr sz="1400">
                <a:solidFill>
                  <a:srgbClr val="232830"/>
                </a:solidFill>
                <a:latin typeface="Aptos"/>
              </a:defRPr>
            </a:pPr>
            <a:r>
              <a:t>Pre-match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0872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A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828800"/>
            <a:ext cx="1874519" cy="288036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3. Preprocess</a:t>
            </a:r>
          </a:p>
          <a:p>
            <a:pPr>
              <a:spcBef>
                <a:spcPts val="700"/>
              </a:spcBef>
              <a:defRPr sz="1400">
                <a:solidFill>
                  <a:srgbClr val="232830"/>
                </a:solidFill>
                <a:latin typeface="Aptos"/>
              </a:defRPr>
            </a:pPr>
            <a:r>
              <a:t>Scale numeric + encode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A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28800"/>
            <a:ext cx="1874519" cy="288036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4. Split</a:t>
            </a:r>
          </a:p>
          <a:p>
            <a:pPr>
              <a:spcBef>
                <a:spcPts val="700"/>
              </a:spcBef>
              <a:defRPr sz="1400">
                <a:solidFill>
                  <a:srgbClr val="232830"/>
                </a:solidFill>
                <a:latin typeface="Aptos"/>
              </a:defRPr>
            </a:pPr>
            <a:r>
              <a:t>80% train / 20%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828800"/>
            <a:ext cx="1874519" cy="288036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5. Train &amp; Evaluate</a:t>
            </a:r>
          </a:p>
          <a:p>
            <a:pPr>
              <a:spcBef>
                <a:spcPts val="700"/>
              </a:spcBef>
              <a:defRPr sz="1400">
                <a:solidFill>
                  <a:srgbClr val="232830"/>
                </a:solidFill>
                <a:latin typeface="Aptos"/>
              </a:defRPr>
            </a:pPr>
            <a:r>
              <a:t>Multinomial 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32830"/>
                </a:solidFill>
                <a:latin typeface="Aptos"/>
              </a:rPr>
              <a:t>Important: current-match final goals are not used as predictors; features represent information available from previous matches.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5. Multinomial Logistic Regression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303520" cy="45262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Why this algorithm?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Logistic Regression can be extended from binary classification to multiple classes. In this project, the model estimates probabilities for three outcomes and selects the class with the highest predicted probability.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303520" cy="452628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Three Output Classes</a:t>
            </a:r>
          </a:p>
          <a:p>
            <a:pPr>
              <a:spcBef>
                <a:spcPts val="700"/>
              </a:spcBef>
              <a:defRPr sz="1900">
                <a:solidFill>
                  <a:srgbClr val="232830"/>
                </a:solidFill>
                <a:latin typeface="Aptos"/>
              </a:defRPr>
            </a:pPr>
            <a:r>
              <a:t>H — Home Win</a:t>
            </a:r>
            <a:br/>
            <a:br/>
            <a:r>
              <a:t>D — Draw</a:t>
            </a:r>
            <a:br/>
            <a:br/>
            <a:r>
              <a:t>A — Away Win</a:t>
            </a:r>
            <a:br/>
            <a:br/>
            <a:r>
              <a:t>The model is trained on 16,000 records and evaluated on 4,000 unseen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6. Evaluation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2651760" cy="196596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Accuracy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Overall percentage of test matches classified correctly.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97280"/>
            <a:ext cx="2651760" cy="196596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Precision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How reliable the model's predicted classes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97280"/>
            <a:ext cx="2651760" cy="196596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Recall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How many actual examples of each class the model identifies.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97280"/>
            <a:ext cx="2331720" cy="196596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F1 Score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Balances precision and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520440"/>
            <a:ext cx="9921240" cy="1600200"/>
          </a:xfrm>
          <a:prstGeom prst="roundRect">
            <a:avLst/>
          </a:prstGeom>
          <a:solidFill>
            <a:srgbClr val="F6F8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Confusion Matrix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Shows actual classes against predicted classes. Diagonal cells are correct predictions; off-diagonal cells show the types of mistakes made by the classifier.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7. 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Actual Project Results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18872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234440"/>
            <a:ext cx="4160520" cy="96012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Accuracy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49.78%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2423160"/>
            <a:ext cx="4160520" cy="96012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Precision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47.85% (weighted)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3611880"/>
            <a:ext cx="4160520" cy="96012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Recall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49.78% (weighted)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800600"/>
            <a:ext cx="4160520" cy="96012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F1 Score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45.80% (weighted)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8.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ptos"/>
              </a:rPr>
              <a:t>4,000 Test Matches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75F"/>
                </a:solidFill>
                <a:latin typeface="Aptos"/>
              </a:rPr>
              <a:t>Predicted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75F"/>
                </a:solidFill>
                <a:latin typeface="Aptos"/>
              </a:rPr>
              <a:t>Actual
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88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Away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Draw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188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Home 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Away Win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508760"/>
            <a:ext cx="2514600" cy="1234440"/>
          </a:xfrm>
          <a:prstGeom prst="rect">
            <a:avLst/>
          </a:prstGeom>
          <a:solidFill>
            <a:srgbClr val="E8F6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1892807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434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508760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92807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103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508760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892807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619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43200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Draw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2743200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31272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241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2743200"/>
            <a:ext cx="2514600" cy="1234440"/>
          </a:xfrm>
          <a:prstGeom prst="rect">
            <a:avLst/>
          </a:prstGeom>
          <a:solidFill>
            <a:srgbClr val="E8F6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26280" y="31272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166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743200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0" y="312724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664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77639"/>
            <a:ext cx="1005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2830"/>
                </a:solidFill>
                <a:latin typeface="Aptos"/>
              </a:rPr>
              <a:t>Home Win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3977639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0" y="43616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261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977639"/>
            <a:ext cx="2514600" cy="1234440"/>
          </a:xfrm>
          <a:prstGeom prst="rect">
            <a:avLst/>
          </a:prstGeom>
          <a:solidFill>
            <a:srgbClr val="FCF1E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43616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121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0" y="3977639"/>
            <a:ext cx="2514600" cy="1234440"/>
          </a:xfrm>
          <a:prstGeom prst="rect">
            <a:avLst/>
          </a:prstGeom>
          <a:solidFill>
            <a:srgbClr val="E8F6E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0" y="43616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32830"/>
                </a:solidFill>
                <a:latin typeface="Aptos"/>
              </a:rPr>
              <a:t>1391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508760"/>
            <a:ext cx="1828800" cy="370332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Key Point</a:t>
            </a:r>
          </a:p>
          <a:p>
            <a:pPr>
              <a:spcBef>
                <a:spcPts val="700"/>
              </a:spcBef>
              <a:defRPr sz="1500">
                <a:solidFill>
                  <a:srgbClr val="232830"/>
                </a:solidFill>
                <a:latin typeface="Aptos"/>
              </a:defRPr>
            </a:pPr>
            <a:r>
              <a:t>Correct:</a:t>
            </a:r>
            <a:br/>
            <a:r>
              <a:t>434 Away Wins</a:t>
            </a:r>
            <a:br/>
            <a:r>
              <a:t>166 Draws</a:t>
            </a:r>
            <a:br/>
            <a:r>
              <a:t>1,391 Home Wins</a:t>
            </a:r>
            <a:br/>
            <a:br/>
            <a:r>
              <a:t>Total correct:</a:t>
            </a:r>
            <a:br/>
            <a:r>
              <a:t>1,991 / 4,000</a:t>
            </a:r>
            <a:br/>
            <a:br/>
            <a:r>
              <a:t>Accuracy:</a:t>
            </a:r>
            <a:br/>
            <a:r>
              <a:t>49.78%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9. Result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474720" cy="452628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Home Wins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1,391 of 1,773 actual home wins were correctly identified — about 78.5% recall. This is the model's strongest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143000"/>
            <a:ext cx="3474720" cy="45262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Away Wins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434 of 1,156 actual away wins were correctly identified — about 37.5% recall.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43000"/>
            <a:ext cx="3474720" cy="452628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Draws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166 of 1,071 actual draws were correctly identified — about 15.5% recall. Draws are the most difficult class for this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375F"/>
                </a:solidFill>
                <a:latin typeface="Aptos"/>
              </a:rPr>
              <a:t>The model tends to predict Home Win more often, so the confusion matrix is important alongside overall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10.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4526280"/>
          </a:xfrm>
          <a:prstGeom prst="roundRect">
            <a:avLst/>
          </a:prstGeom>
          <a:solidFill>
            <a:srgbClr val="FCF1E4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CD782D"/>
                </a:solidFill>
                <a:latin typeface="Aptos Display"/>
              </a:rPr>
              <a:t>Current Limitations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• Football outcomes are influenced by many unpredictable factors</a:t>
            </a:r>
            <a:br/>
            <a:r>
              <a:t>• Draws are difficult for the model to distinguish</a:t>
            </a:r>
            <a:br/>
            <a:r>
              <a:t>• Team injuries, lineups, weather and tactical changes are not included</a:t>
            </a:r>
            <a:br/>
            <a:r>
              <a:t>• Class frequencies are not perfectly balanced</a:t>
            </a:r>
            <a:br/>
            <a:r>
              <a:t>• Historical patterns may change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452628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How to Improve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• Add team strength/ranking information</a:t>
            </a:r>
            <a:br/>
            <a:r>
              <a:t>• Add player availability and lineup features</a:t>
            </a:r>
            <a:br/>
            <a:r>
              <a:t>• Use rolling form over different time windows</a:t>
            </a:r>
            <a:br/>
            <a:r>
              <a:t>• Tune class weights and regularization</a:t>
            </a:r>
            <a:br/>
            <a:r>
              <a:t>• Compare with Random Forest, XGBoost or other classifiers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11.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42976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Sports Analysis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Analyze how historical team form and scoring patterns relate to match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234440"/>
            <a:ext cx="3474720" cy="429768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Match Previews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Generate probability-based pre-match insights for dashboards or fan-facing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474720" cy="4297680"/>
          </a:xfrm>
          <a:prstGeom prst="roundRect">
            <a:avLst/>
          </a:prstGeom>
          <a:solidFill>
            <a:srgbClr val="F1EE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604EA0"/>
                </a:solidFill>
                <a:latin typeface="Aptos Display"/>
              </a:rPr>
              <a:t>Learning &amp; Research</a:t>
            </a:r>
          </a:p>
          <a:p>
            <a:pPr>
              <a:spcBef>
                <a:spcPts val="700"/>
              </a:spcBef>
              <a:defRPr sz="1800">
                <a:solidFill>
                  <a:srgbClr val="232830"/>
                </a:solidFill>
                <a:latin typeface="Aptos"/>
              </a:defRPr>
            </a:pPr>
            <a:r>
              <a:t>Demonstrates an interpretable multi-class classification workflow using real football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12.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49240" cy="4526280"/>
          </a:xfrm>
          <a:prstGeom prst="roundRect">
            <a:avLst/>
          </a:prstGeom>
          <a:solidFill>
            <a:srgbClr val="E8F2F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14375F"/>
                </a:solidFill>
                <a:latin typeface="Aptos Display"/>
              </a:rPr>
              <a:t>Conclusion</a:t>
            </a:r>
          </a:p>
          <a:p>
            <a:pPr>
              <a:spcBef>
                <a:spcPts val="700"/>
              </a:spcBef>
              <a:defRPr sz="1600">
                <a:solidFill>
                  <a:srgbClr val="232830"/>
                </a:solidFill>
                <a:latin typeface="Aptos"/>
              </a:defRPr>
            </a:pPr>
            <a:r>
              <a:t>The project successfully implements a three-class football match-result prediction system using Multinomial Logistic Regression. Using 16,000 training matches and 4,000 test matches, the model achieved 49.78% accuracy. The confusion matrix shows that Home Wins are identified much more successfully than Draws. The project demonstrates the complete workflow of feature preparation, preprocessing, multi-class classification and model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49240" cy="4526280"/>
          </a:xfrm>
          <a:prstGeom prst="roundRect">
            <a:avLst/>
          </a:prstGeom>
          <a:solidFill>
            <a:srgbClr val="E8F6ED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pPr algn="ctr"/>
            <a:r>
              <a:rPr sz="1900" b="1">
                <a:solidFill>
                  <a:srgbClr val="327D5A"/>
                </a:solidFill>
                <a:latin typeface="Aptos Display"/>
              </a:rPr>
              <a:t>Future Scope</a:t>
            </a:r>
          </a:p>
          <a:p>
            <a:pPr>
              <a:spcBef>
                <a:spcPts val="700"/>
              </a:spcBef>
              <a:defRPr sz="1700">
                <a:solidFill>
                  <a:srgbClr val="232830"/>
                </a:solidFill>
                <a:latin typeface="Aptos"/>
              </a:defRPr>
            </a:pPr>
            <a:r>
              <a:t>• Add richer pre-match team and player information</a:t>
            </a:r>
            <a:br/>
            <a:r>
              <a:t>• Improve draw classification</a:t>
            </a:r>
            <a:br/>
            <a:r>
              <a:t>• Use chronological validation for future-match forecasting</a:t>
            </a:r>
            <a:br/>
            <a:r>
              <a:t>• Compare additional classification algorithms</a:t>
            </a:r>
            <a:br/>
            <a:r>
              <a:t>• Build a simple interface for entering match information and showing class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4375F"/>
                </a:solidFill>
                <a:latin typeface="Aptos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611112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tos"/>
              </a:rPr>
              <a:t>Match Result Prediction |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1081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Multi-Class Match Result Prediction Using Multinomial Logistic Regression</dc:title>
  <dc:subject>Machine Learning Project Presentation</dc:subject>
  <dc:creator/>
  <cp:keywords/>
  <dc:description>generated using python-pptx</dc:description>
  <cp:lastModifiedBy>nallurinishanth705@gmail.com</cp:lastModifiedBy>
  <cp:revision>1</cp:revision>
  <dcterms:created xsi:type="dcterms:W3CDTF">2013-01-27T09:14:16Z</dcterms:created>
  <dcterms:modified xsi:type="dcterms:W3CDTF">2026-09-25T14:57:08Z</dcterms:modified>
  <cp:category/>
</cp:coreProperties>
</file>